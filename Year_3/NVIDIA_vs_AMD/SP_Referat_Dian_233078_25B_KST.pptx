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2"/>
  </p:notesMasterIdLst>
  <p:sldIdLst>
    <p:sldId id="256" r:id="rId2"/>
    <p:sldId id="293" r:id="rId3"/>
    <p:sldId id="297" r:id="rId4"/>
    <p:sldId id="298" r:id="rId5"/>
    <p:sldId id="300" r:id="rId6"/>
    <p:sldId id="295" r:id="rId7"/>
    <p:sldId id="294" r:id="rId8"/>
    <p:sldId id="301" r:id="rId9"/>
    <p:sldId id="302" r:id="rId10"/>
    <p:sldId id="304" r:id="rId11"/>
    <p:sldId id="303" r:id="rId12"/>
    <p:sldId id="305" r:id="rId13"/>
    <p:sldId id="306" r:id="rId14"/>
    <p:sldId id="307" r:id="rId15"/>
    <p:sldId id="312" r:id="rId16"/>
    <p:sldId id="308" r:id="rId17"/>
    <p:sldId id="311" r:id="rId18"/>
    <p:sldId id="309" r:id="rId19"/>
    <p:sldId id="314" r:id="rId20"/>
    <p:sldId id="313" r:id="rId21"/>
  </p:sldIdLst>
  <p:sldSz cx="9144000" cy="5143500" type="screen16x9"/>
  <p:notesSz cx="6858000" cy="9144000"/>
  <p:embeddedFontLst>
    <p:embeddedFont>
      <p:font typeface="Arimo" panose="020B0604020202020204" charset="0"/>
      <p:regular r:id="rId23"/>
      <p:bold r:id="rId24"/>
      <p:italic r:id="rId25"/>
      <p:boldItalic r:id="rId26"/>
    </p:embeddedFont>
    <p:embeddedFont>
      <p:font typeface="Bebas Neue" panose="020B0606020202050201" pitchFamily="34" charset="0"/>
      <p:regular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Spline Sans Mono Medium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C99"/>
    <a:srgbClr val="99FFCC"/>
    <a:srgbClr val="DA7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867511-E47E-4F08-AF2F-02EA40FCE03B}">
  <a:tblStyle styleId="{F2867511-E47E-4F08-AF2F-02EA40FCE0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6247" autoAdjust="0"/>
  </p:normalViewPr>
  <p:slideViewPr>
    <p:cSldViewPr snapToGrid="0">
      <p:cViewPr varScale="1">
        <p:scale>
          <a:sx n="141" d="100"/>
          <a:sy n="141" d="100"/>
        </p:scale>
        <p:origin x="666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6505baf5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08" name="Google Shape;208;g16505baf5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6B3F7C57-7ECD-011D-C5E2-8245FF9D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6505baf554_0_0:notes">
            <a:extLst>
              <a:ext uri="{FF2B5EF4-FFF2-40B4-BE49-F238E27FC236}">
                <a16:creationId xmlns:a16="http://schemas.microsoft.com/office/drawing/2014/main" id="{69F31C77-F083-B398-8794-7D2550946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bg-BG"/>
          </a:p>
        </p:txBody>
      </p:sp>
      <p:sp>
        <p:nvSpPr>
          <p:cNvPr id="208" name="Google Shape;208;g16505baf554_0_0:notes">
            <a:extLst>
              <a:ext uri="{FF2B5EF4-FFF2-40B4-BE49-F238E27FC236}">
                <a16:creationId xmlns:a16="http://schemas.microsoft.com/office/drawing/2014/main" id="{EC157D2F-AB96-CD31-40E8-8720ADB65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1397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427675" y="465450"/>
            <a:ext cx="8336700" cy="43188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88600" y="623225"/>
            <a:ext cx="6898500" cy="213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901275" y="3552000"/>
            <a:ext cx="5185800" cy="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359600" y="294225"/>
            <a:ext cx="8423400" cy="45660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/>
          <p:nvPr/>
        </p:nvSpPr>
        <p:spPr>
          <a:xfrm>
            <a:off x="359600" y="294225"/>
            <a:ext cx="8423400" cy="45660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662513" y="2582650"/>
            <a:ext cx="25128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4968688" y="2582650"/>
            <a:ext cx="25128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1662513" y="3080600"/>
            <a:ext cx="2512800" cy="8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4968688" y="3080600"/>
            <a:ext cx="2512800" cy="8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/>
          <p:nvPr/>
        </p:nvSpPr>
        <p:spPr>
          <a:xfrm>
            <a:off x="359600" y="294225"/>
            <a:ext cx="8423400" cy="45660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3219850" y="600375"/>
            <a:ext cx="4707600" cy="30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91440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241600" y="804150"/>
            <a:ext cx="4661100" cy="22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241550" y="3133650"/>
            <a:ext cx="4661100" cy="13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/>
          <p:nvPr/>
        </p:nvSpPr>
        <p:spPr>
          <a:xfrm>
            <a:off x="1052850" y="1078800"/>
            <a:ext cx="7038300" cy="29859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4392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1284000" y="3281975"/>
            <a:ext cx="6576000" cy="4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355650" y="269550"/>
            <a:ext cx="8432700" cy="4604400"/>
          </a:xfrm>
          <a:prstGeom prst="roundRect">
            <a:avLst>
              <a:gd name="adj" fmla="val 13754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ubTitle" idx="1"/>
          </p:nvPr>
        </p:nvSpPr>
        <p:spPr>
          <a:xfrm>
            <a:off x="1490150" y="1661075"/>
            <a:ext cx="2634300" cy="50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2"/>
          </p:nvPr>
        </p:nvSpPr>
        <p:spPr>
          <a:xfrm>
            <a:off x="1490150" y="2162025"/>
            <a:ext cx="2634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3"/>
          </p:nvPr>
        </p:nvSpPr>
        <p:spPr>
          <a:xfrm>
            <a:off x="5034152" y="2162025"/>
            <a:ext cx="2634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4"/>
          </p:nvPr>
        </p:nvSpPr>
        <p:spPr>
          <a:xfrm>
            <a:off x="1490150" y="3659300"/>
            <a:ext cx="2634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5"/>
          </p:nvPr>
        </p:nvSpPr>
        <p:spPr>
          <a:xfrm>
            <a:off x="5034152" y="3659300"/>
            <a:ext cx="2634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6"/>
          </p:nvPr>
        </p:nvSpPr>
        <p:spPr>
          <a:xfrm>
            <a:off x="1490150" y="3158300"/>
            <a:ext cx="2634300" cy="50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7"/>
          </p:nvPr>
        </p:nvSpPr>
        <p:spPr>
          <a:xfrm>
            <a:off x="5034150" y="1661075"/>
            <a:ext cx="2634300" cy="50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8"/>
          </p:nvPr>
        </p:nvSpPr>
        <p:spPr>
          <a:xfrm>
            <a:off x="5034150" y="3158300"/>
            <a:ext cx="2634300" cy="50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359600" y="294225"/>
            <a:ext cx="8423400" cy="45660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1"/>
          </p:nvPr>
        </p:nvSpPr>
        <p:spPr>
          <a:xfrm>
            <a:off x="720000" y="2120197"/>
            <a:ext cx="23364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2"/>
          </p:nvPr>
        </p:nvSpPr>
        <p:spPr>
          <a:xfrm>
            <a:off x="3403800" y="2120197"/>
            <a:ext cx="23364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ubTitle" idx="3"/>
          </p:nvPr>
        </p:nvSpPr>
        <p:spPr>
          <a:xfrm>
            <a:off x="6087600" y="2120197"/>
            <a:ext cx="23364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subTitle" idx="4"/>
          </p:nvPr>
        </p:nvSpPr>
        <p:spPr>
          <a:xfrm>
            <a:off x="720000" y="3589574"/>
            <a:ext cx="23364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ubTitle" idx="5"/>
          </p:nvPr>
        </p:nvSpPr>
        <p:spPr>
          <a:xfrm>
            <a:off x="3403800" y="3589574"/>
            <a:ext cx="23364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ubTitle" idx="6"/>
          </p:nvPr>
        </p:nvSpPr>
        <p:spPr>
          <a:xfrm>
            <a:off x="6087600" y="3589574"/>
            <a:ext cx="23364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ubTitle" idx="7"/>
          </p:nvPr>
        </p:nvSpPr>
        <p:spPr>
          <a:xfrm>
            <a:off x="715100" y="1618950"/>
            <a:ext cx="2336400" cy="5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8"/>
          </p:nvPr>
        </p:nvSpPr>
        <p:spPr>
          <a:xfrm>
            <a:off x="3403800" y="1618950"/>
            <a:ext cx="2336400" cy="5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9"/>
          </p:nvPr>
        </p:nvSpPr>
        <p:spPr>
          <a:xfrm>
            <a:off x="6092500" y="1618950"/>
            <a:ext cx="2336400" cy="5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3"/>
          </p:nvPr>
        </p:nvSpPr>
        <p:spPr>
          <a:xfrm>
            <a:off x="715100" y="3083925"/>
            <a:ext cx="2336400" cy="5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14"/>
          </p:nvPr>
        </p:nvSpPr>
        <p:spPr>
          <a:xfrm>
            <a:off x="3403800" y="3083925"/>
            <a:ext cx="2336400" cy="5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15"/>
          </p:nvPr>
        </p:nvSpPr>
        <p:spPr>
          <a:xfrm>
            <a:off x="6092500" y="3083925"/>
            <a:ext cx="2336400" cy="5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/>
          <p:nvPr/>
        </p:nvSpPr>
        <p:spPr>
          <a:xfrm>
            <a:off x="359600" y="294225"/>
            <a:ext cx="8423400" cy="45660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720000" y="2873075"/>
            <a:ext cx="246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2"/>
          </p:nvPr>
        </p:nvSpPr>
        <p:spPr>
          <a:xfrm>
            <a:off x="720000" y="3411753"/>
            <a:ext cx="24621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3"/>
          </p:nvPr>
        </p:nvSpPr>
        <p:spPr>
          <a:xfrm>
            <a:off x="3340950" y="3411756"/>
            <a:ext cx="24621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4"/>
          </p:nvPr>
        </p:nvSpPr>
        <p:spPr>
          <a:xfrm>
            <a:off x="5961900" y="3411756"/>
            <a:ext cx="2462100" cy="8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5"/>
          </p:nvPr>
        </p:nvSpPr>
        <p:spPr>
          <a:xfrm>
            <a:off x="3340950" y="2873075"/>
            <a:ext cx="246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6"/>
          </p:nvPr>
        </p:nvSpPr>
        <p:spPr>
          <a:xfrm>
            <a:off x="5961900" y="2873075"/>
            <a:ext cx="246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7" hasCustomPrompt="1"/>
          </p:nvPr>
        </p:nvSpPr>
        <p:spPr>
          <a:xfrm>
            <a:off x="1213400" y="1636100"/>
            <a:ext cx="1475400" cy="684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 idx="8" hasCustomPrompt="1"/>
          </p:nvPr>
        </p:nvSpPr>
        <p:spPr>
          <a:xfrm>
            <a:off x="3834325" y="1636100"/>
            <a:ext cx="1475400" cy="684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9" hasCustomPrompt="1"/>
          </p:nvPr>
        </p:nvSpPr>
        <p:spPr>
          <a:xfrm>
            <a:off x="6455250" y="1636100"/>
            <a:ext cx="1475400" cy="684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3384175" y="2057250"/>
            <a:ext cx="4386000" cy="17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title" idx="2" hasCustomPrompt="1"/>
          </p:nvPr>
        </p:nvSpPr>
        <p:spPr>
          <a:xfrm>
            <a:off x="3384200" y="1222275"/>
            <a:ext cx="1511100" cy="8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3" name="Google Shape;163;p24"/>
          <p:cNvSpPr txBox="1">
            <a:spLocks noGrp="1"/>
          </p:cNvSpPr>
          <p:nvPr>
            <p:ph type="subTitle" idx="1"/>
          </p:nvPr>
        </p:nvSpPr>
        <p:spPr>
          <a:xfrm>
            <a:off x="3384189" y="3869925"/>
            <a:ext cx="4386000" cy="4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2146300" y="1893375"/>
            <a:ext cx="4818000" cy="17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title" idx="2" hasCustomPrompt="1"/>
          </p:nvPr>
        </p:nvSpPr>
        <p:spPr>
          <a:xfrm>
            <a:off x="2146300" y="981250"/>
            <a:ext cx="4818000" cy="9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1"/>
          </p:nvPr>
        </p:nvSpPr>
        <p:spPr>
          <a:xfrm>
            <a:off x="2146316" y="3706050"/>
            <a:ext cx="4818000" cy="4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/>
          <p:nvPr/>
        </p:nvSpPr>
        <p:spPr>
          <a:xfrm>
            <a:off x="359600" y="294225"/>
            <a:ext cx="8423400" cy="45660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/>
          <p:nvPr/>
        </p:nvSpPr>
        <p:spPr>
          <a:xfrm>
            <a:off x="359600" y="294225"/>
            <a:ext cx="5439000" cy="45660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94" name="Google Shape;194;p31"/>
          <p:cNvSpPr/>
          <p:nvPr/>
        </p:nvSpPr>
        <p:spPr>
          <a:xfrm>
            <a:off x="6170250" y="294225"/>
            <a:ext cx="2591400" cy="4566000"/>
          </a:xfrm>
          <a:prstGeom prst="roundRect">
            <a:avLst>
              <a:gd name="adj" fmla="val 16667"/>
            </a:avLst>
          </a:prstGeom>
          <a:solidFill>
            <a:srgbClr val="00197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65" r:id="rId9"/>
    <p:sldLayoutId id="2147483666" r:id="rId10"/>
    <p:sldLayoutId id="2147483668" r:id="rId11"/>
    <p:sldLayoutId id="2147483670" r:id="rId12"/>
    <p:sldLayoutId id="2147483671" r:id="rId13"/>
    <p:sldLayoutId id="2147483672" r:id="rId14"/>
    <p:sldLayoutId id="214748367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ascal_(microarchitecture)" TargetMode="External"/><Relationship Id="rId13" Type="http://schemas.openxmlformats.org/officeDocument/2006/relationships/hyperlink" Target="https://gpu.userbenchmark.com/Compare/Nvidia-GTX-1050-vs-AMD-RX-7600/3650vsm2114669" TargetMode="External"/><Relationship Id="rId3" Type="http://schemas.openxmlformats.org/officeDocument/2006/relationships/hyperlink" Target="https://www.techpowerup.com/gpu-specs/geforce-gtx-1050.c2875" TargetMode="External"/><Relationship Id="rId7" Type="http://schemas.openxmlformats.org/officeDocument/2006/relationships/hyperlink" Target="https://www.amd.com/en/products/graphics/desktops/radeon/7000-series/amd-radeon-rx-7600.html" TargetMode="External"/><Relationship Id="rId12" Type="http://schemas.openxmlformats.org/officeDocument/2006/relationships/hyperlink" Target="https://technical.city/en/video/Radeon-RX-7600-vs-GeForce-GTX-105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echpowerup.com/gpu-specs/amd-navi-33.g1001" TargetMode="External"/><Relationship Id="rId11" Type="http://schemas.openxmlformats.org/officeDocument/2006/relationships/hyperlink" Target="https://www.amd.com/en/products/graphics/desktops/radeon/7000-series.html" TargetMode="External"/><Relationship Id="rId5" Type="http://schemas.openxmlformats.org/officeDocument/2006/relationships/hyperlink" Target="https://www.techpowerup.com/gpu-specs/nvidia-gp107.g801" TargetMode="External"/><Relationship Id="rId10" Type="http://schemas.openxmlformats.org/officeDocument/2006/relationships/hyperlink" Target="https://www.nvidia.com/en-gb/geforce/10-series/" TargetMode="External"/><Relationship Id="rId4" Type="http://schemas.openxmlformats.org/officeDocument/2006/relationships/hyperlink" Target="https://www.techpowerup.com/gpu-specs/radeon-rx-7600.c4153" TargetMode="External"/><Relationship Id="rId9" Type="http://schemas.openxmlformats.org/officeDocument/2006/relationships/hyperlink" Target="https://en.wikipedia.org/wiki/RDNA_(microarchitecture)" TargetMode="External"/><Relationship Id="rId14" Type="http://schemas.openxmlformats.org/officeDocument/2006/relationships/hyperlink" Target="https://www.topcpu.net/en/gpu-c/geforce-gtx-1050-vs-radeon-rx-76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>
            <a:spLocks noGrp="1"/>
          </p:cNvSpPr>
          <p:nvPr>
            <p:ph type="ctrTitle"/>
          </p:nvPr>
        </p:nvSpPr>
        <p:spPr>
          <a:xfrm>
            <a:off x="761750" y="623225"/>
            <a:ext cx="7325325" cy="213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5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Сравнителен анализ между графичните карти</a:t>
            </a:r>
            <a:r>
              <a:rPr lang="en-US" sz="3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en" sz="35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NVIDIA GeForce GTX 1050 VS</a:t>
            </a:r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AMD Radeon RX 7600</a:t>
            </a:r>
            <a:endParaRPr sz="3500" b="1" dirty="0">
              <a:solidFill>
                <a:srgbClr val="DA7EE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1" name="Google Shape;211;p36"/>
          <p:cNvSpPr txBox="1">
            <a:spLocks noGrp="1"/>
          </p:cNvSpPr>
          <p:nvPr>
            <p:ph type="subTitle" idx="1"/>
          </p:nvPr>
        </p:nvSpPr>
        <p:spPr>
          <a:xfrm>
            <a:off x="1037164" y="3526075"/>
            <a:ext cx="5185800" cy="91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Изготвил</a:t>
            </a: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Диан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Лазаров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Фак. №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233078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Група</a:t>
            </a: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25Б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12" name="Google Shape;212;p36"/>
          <p:cNvGrpSpPr/>
          <p:nvPr/>
        </p:nvGrpSpPr>
        <p:grpSpPr>
          <a:xfrm>
            <a:off x="509449" y="2635063"/>
            <a:ext cx="7577625" cy="331800"/>
            <a:chOff x="763125" y="3325025"/>
            <a:chExt cx="7187700" cy="331800"/>
          </a:xfrm>
        </p:grpSpPr>
        <p:cxnSp>
          <p:nvCxnSpPr>
            <p:cNvPr id="213" name="Google Shape;213;p36"/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214" name="Google Shape;214;p36"/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215" name="Google Shape;215;p36"/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C844-F7C9-31A7-AA1F-C8482628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35" y="328827"/>
            <a:ext cx="7149006" cy="669977"/>
          </a:xfrm>
        </p:spPr>
        <p:txBody>
          <a:bodyPr/>
          <a:lstStyle/>
          <a:p>
            <a:pPr algn="ctr"/>
            <a:r>
              <a:rPr lang="bg-BG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Въведение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AA402-067A-8DE3-3E1B-408389E74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7036" y="1325843"/>
            <a:ext cx="7149006" cy="3416400"/>
          </a:xfrm>
        </p:spPr>
        <p:txBody>
          <a:bodyPr/>
          <a:lstStyle/>
          <a:p>
            <a:pPr marL="241300" lvl="0" indent="-215900">
              <a:lnSpc>
                <a:spcPct val="100000"/>
              </a:lnSpc>
              <a:spcAft>
                <a:spcPts val="1600"/>
              </a:spcAft>
              <a:buClr>
                <a:srgbClr val="FFFFFF"/>
              </a:buClr>
              <a:defRPr/>
            </a:pPr>
            <a:r>
              <a:rPr lang="bg-BG" dirty="0">
                <a:solidFill>
                  <a:srgbClr val="FFFFFF"/>
                </a:solidFill>
              </a:rPr>
              <a:t>Двете карти са от различни производители</a:t>
            </a:r>
            <a:r>
              <a:rPr lang="en-US" dirty="0">
                <a:solidFill>
                  <a:srgbClr val="FFFFFF"/>
                </a:solidFill>
              </a:rPr>
              <a:t>: GTX 1050 </a:t>
            </a:r>
            <a:r>
              <a:rPr lang="bg-BG" dirty="0">
                <a:solidFill>
                  <a:srgbClr val="FFFFFF"/>
                </a:solidFill>
              </a:rPr>
              <a:t>е произведена от </a:t>
            </a:r>
            <a:r>
              <a:rPr lang="en-US" dirty="0">
                <a:solidFill>
                  <a:srgbClr val="FFFFFF"/>
                </a:solidFill>
              </a:rPr>
              <a:t>NVIDIA</a:t>
            </a:r>
            <a:r>
              <a:rPr lang="bg-BG" dirty="0">
                <a:solidFill>
                  <a:srgbClr val="FFFFFF"/>
                </a:solidFill>
              </a:rPr>
              <a:t>, а </a:t>
            </a:r>
            <a:r>
              <a:rPr lang="en-US" dirty="0">
                <a:solidFill>
                  <a:srgbClr val="FFFFFF"/>
                </a:solidFill>
              </a:rPr>
              <a:t>RX 7600</a:t>
            </a:r>
            <a:r>
              <a:rPr lang="bg-BG" dirty="0">
                <a:solidFill>
                  <a:srgbClr val="FFFFFF"/>
                </a:solidFill>
              </a:rPr>
              <a:t> – от </a:t>
            </a:r>
            <a:r>
              <a:rPr lang="en-US" dirty="0">
                <a:solidFill>
                  <a:srgbClr val="FFFFFF"/>
                </a:solidFill>
              </a:rPr>
              <a:t>AMD.</a:t>
            </a:r>
          </a:p>
          <a:p>
            <a:pPr marL="241300" lvl="0" indent="-215900">
              <a:lnSpc>
                <a:spcPct val="100000"/>
              </a:lnSpc>
              <a:spcAft>
                <a:spcPts val="1600"/>
              </a:spcAft>
              <a:buClr>
                <a:srgbClr val="FFFFFF"/>
              </a:buClr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GTX 1050 </a:t>
            </a:r>
            <a:r>
              <a:rPr kumimoji="0" lang="bg-BG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е пусната на пазара на 25 октомври 2016 г., докато </a:t>
            </a: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RX 7600</a:t>
            </a:r>
            <a:r>
              <a:rPr kumimoji="0" lang="bg-BG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 е пусната на </a:t>
            </a: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24 </a:t>
            </a:r>
            <a:r>
              <a:rPr kumimoji="0" lang="bg-BG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май 2023 г., което ѝ дава огромно предимство от над </a:t>
            </a:r>
            <a:r>
              <a:rPr lang="en-US" dirty="0">
                <a:solidFill>
                  <a:srgbClr val="FFFFFF"/>
                </a:solidFill>
              </a:rPr>
              <a:t>6</a:t>
            </a:r>
            <a:r>
              <a:rPr kumimoji="0" lang="bg-BG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 години.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Arimo"/>
              <a:ea typeface="Arimo"/>
              <a:cs typeface="Arimo"/>
              <a:sym typeface="Arimo"/>
            </a:endParaRPr>
          </a:p>
          <a:p>
            <a:pPr marL="241300" lvl="0" indent="-215900">
              <a:lnSpc>
                <a:spcPct val="100000"/>
              </a:lnSpc>
              <a:spcAft>
                <a:spcPts val="1600"/>
              </a:spcAft>
              <a:buClr>
                <a:srgbClr val="FFFFFF"/>
              </a:buClr>
              <a:defRPr/>
            </a:pPr>
            <a:r>
              <a:rPr lang="en-US" dirty="0">
                <a:solidFill>
                  <a:srgbClr val="FFFFFF"/>
                </a:solidFill>
              </a:rPr>
              <a:t>GTX</a:t>
            </a:r>
            <a:r>
              <a:rPr lang="bg-BG" dirty="0">
                <a:solidFill>
                  <a:srgbClr val="FFFFFF"/>
                </a:solidFill>
              </a:rPr>
              <a:t> 1050 има 640 ядра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bg-BG" dirty="0">
                <a:solidFill>
                  <a:srgbClr val="FFFFFF"/>
                </a:solidFill>
              </a:rPr>
              <a:t>нишки, а </a:t>
            </a:r>
            <a:r>
              <a:rPr lang="en-US" dirty="0">
                <a:solidFill>
                  <a:srgbClr val="FFFFFF"/>
                </a:solidFill>
              </a:rPr>
              <a:t>RX 7600</a:t>
            </a:r>
            <a:r>
              <a:rPr lang="bg-BG" dirty="0">
                <a:solidFill>
                  <a:srgbClr val="FFFFFF"/>
                </a:solidFill>
              </a:rPr>
              <a:t> – 2048</a:t>
            </a:r>
            <a:r>
              <a:rPr lang="en-US" dirty="0">
                <a:solidFill>
                  <a:srgbClr val="FFFFFF"/>
                </a:solidFill>
              </a:rPr>
              <a:t>.</a:t>
            </a:r>
            <a:r>
              <a:rPr lang="bg-BG" dirty="0">
                <a:solidFill>
                  <a:srgbClr val="FFFFFF"/>
                </a:solidFill>
              </a:rPr>
              <a:t> Това означава, че </a:t>
            </a:r>
            <a:r>
              <a:rPr lang="en-US" dirty="0">
                <a:solidFill>
                  <a:srgbClr val="FFFFFF"/>
                </a:solidFill>
              </a:rPr>
              <a:t>RX 7600</a:t>
            </a:r>
            <a:r>
              <a:rPr lang="bg-BG" dirty="0">
                <a:solidFill>
                  <a:srgbClr val="FFFFFF"/>
                </a:solidFill>
              </a:rPr>
              <a:t> е много по-ефективна при паралелна обработка на хиляди задачи</a:t>
            </a:r>
            <a:r>
              <a:rPr lang="en-US" dirty="0">
                <a:solidFill>
                  <a:srgbClr val="FFFFFF"/>
                </a:solidFill>
              </a:rPr>
              <a:t> (</a:t>
            </a:r>
            <a:r>
              <a:rPr lang="bg-BG" dirty="0">
                <a:solidFill>
                  <a:srgbClr val="FFFFFF"/>
                </a:solidFill>
              </a:rPr>
              <a:t>рендиране на графика, игри, приложения, изискващи интензивни изчисления, симулации и др.</a:t>
            </a:r>
            <a:r>
              <a:rPr lang="en-US" dirty="0">
                <a:solidFill>
                  <a:srgbClr val="FFFFFF"/>
                </a:solidFill>
              </a:rPr>
              <a:t>).</a:t>
            </a:r>
          </a:p>
          <a:p>
            <a:pPr marL="241300" lvl="0" indent="-215900">
              <a:lnSpc>
                <a:spcPct val="100000"/>
              </a:lnSpc>
              <a:spcAft>
                <a:spcPts val="1600"/>
              </a:spcAft>
              <a:buClr>
                <a:srgbClr val="FFFFFF"/>
              </a:buClr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GTX 1050 </a:t>
            </a:r>
            <a:r>
              <a:rPr kumimoji="0" lang="bg-BG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е базирана на графичния процесор</a:t>
            </a: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 GP107</a:t>
            </a:r>
            <a:r>
              <a:rPr kumimoji="0" lang="bg-BG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Arimo"/>
                <a:ea typeface="Arimo"/>
                <a:cs typeface="Arimo"/>
                <a:sym typeface="Arimo"/>
              </a:rPr>
              <a:t>, а </a:t>
            </a:r>
            <a:r>
              <a:rPr lang="en-US" dirty="0">
                <a:solidFill>
                  <a:srgbClr val="FFFFFF"/>
                </a:solidFill>
              </a:rPr>
              <a:t>RX 7600 </a:t>
            </a:r>
            <a:r>
              <a:rPr lang="bg-BG" dirty="0">
                <a:solidFill>
                  <a:srgbClr val="FFFFFF"/>
                </a:solidFill>
              </a:rPr>
              <a:t>– на графичния процесор </a:t>
            </a:r>
            <a:r>
              <a:rPr lang="en-US" dirty="0">
                <a:solidFill>
                  <a:srgbClr val="FFFFFF"/>
                </a:solidFill>
              </a:rPr>
              <a:t>Navi 33.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sym typeface="Arimo"/>
            </a:endParaRPr>
          </a:p>
        </p:txBody>
      </p:sp>
      <p:grpSp>
        <p:nvGrpSpPr>
          <p:cNvPr id="4" name="Google Shape;246;p38">
            <a:extLst>
              <a:ext uri="{FF2B5EF4-FFF2-40B4-BE49-F238E27FC236}">
                <a16:creationId xmlns:a16="http://schemas.microsoft.com/office/drawing/2014/main" id="{B3D78608-5A3B-EA8A-119C-5A52F6403B20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5" name="Google Shape;247;p38">
              <a:extLst>
                <a:ext uri="{FF2B5EF4-FFF2-40B4-BE49-F238E27FC236}">
                  <a16:creationId xmlns:a16="http://schemas.microsoft.com/office/drawing/2014/main" id="{0CBCDB14-1FC7-A817-9EF9-DE87260F2293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6" name="Google Shape;248;p38">
              <a:extLst>
                <a:ext uri="{FF2B5EF4-FFF2-40B4-BE49-F238E27FC236}">
                  <a16:creationId xmlns:a16="http://schemas.microsoft.com/office/drawing/2014/main" id="{B9360D8A-69AC-EB24-E932-EDE7D158CC8C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7" name="Google Shape;249;p38">
              <a:extLst>
                <a:ext uri="{FF2B5EF4-FFF2-40B4-BE49-F238E27FC236}">
                  <a16:creationId xmlns:a16="http://schemas.microsoft.com/office/drawing/2014/main" id="{5408F687-6E87-DCAF-B12F-063710FBD834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0474269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20D265-D6CF-EB8F-8B06-3CE4A343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09" y="328826"/>
            <a:ext cx="7174432" cy="684047"/>
          </a:xfrm>
        </p:spPr>
        <p:txBody>
          <a:bodyPr/>
          <a:lstStyle/>
          <a:p>
            <a:r>
              <a:rPr lang="bg-BG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Графичен процесор</a:t>
            </a:r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GP107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B0645-E0F5-A672-11A0-E9511BD97319}"/>
              </a:ext>
            </a:extLst>
          </p:cNvPr>
          <p:cNvSpPr txBox="1">
            <a:spLocks/>
          </p:cNvSpPr>
          <p:nvPr/>
        </p:nvSpPr>
        <p:spPr>
          <a:xfrm>
            <a:off x="884749" y="1425736"/>
            <a:ext cx="3852000" cy="3295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413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400"/>
              <a:buFont typeface="Arimo"/>
              <a:buChar char="●"/>
              <a:tabLst/>
              <a:defRPr/>
            </a:pPr>
            <a:r>
              <a:rPr lang="bg-BG" dirty="0">
                <a:solidFill>
                  <a:srgbClr val="FFFFFF"/>
                </a:solidFill>
              </a:rPr>
              <a:t>Използва микроархитектурата </a:t>
            </a:r>
            <a:r>
              <a:rPr lang="en-US" dirty="0">
                <a:solidFill>
                  <a:srgbClr val="FFFFFF"/>
                </a:solidFill>
              </a:rPr>
              <a:t>Pascal.</a:t>
            </a: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Произведен е по 14</a:t>
            </a:r>
            <a:r>
              <a:rPr lang="en-US" dirty="0">
                <a:solidFill>
                  <a:srgbClr val="FFFFFF"/>
                </a:solidFill>
              </a:rPr>
              <a:t>nm </a:t>
            </a:r>
            <a:r>
              <a:rPr lang="bg-BG" dirty="0">
                <a:solidFill>
                  <a:srgbClr val="FFFFFF"/>
                </a:solidFill>
              </a:rPr>
              <a:t>технология в </a:t>
            </a:r>
            <a:r>
              <a:rPr lang="en-US" dirty="0">
                <a:solidFill>
                  <a:srgbClr val="FFFFFF"/>
                </a:solidFill>
              </a:rPr>
              <a:t>Samsung.</a:t>
            </a: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Съдържа монолитен чип с размер 132</a:t>
            </a:r>
            <a:r>
              <a:rPr lang="en-US" dirty="0">
                <a:solidFill>
                  <a:srgbClr val="FFFFFF"/>
                </a:solidFill>
              </a:rPr>
              <a:t>mm²</a:t>
            </a:r>
            <a:r>
              <a:rPr lang="bg-BG" dirty="0">
                <a:solidFill>
                  <a:srgbClr val="FFFFFF"/>
                </a:solidFill>
              </a:rPr>
              <a:t>, който е </a:t>
            </a:r>
            <a:r>
              <a:rPr lang="ru-RU" dirty="0">
                <a:solidFill>
                  <a:srgbClr val="FFFFFF"/>
                </a:solidFill>
              </a:rPr>
              <a:t>съставен от</a:t>
            </a:r>
            <a:r>
              <a:rPr lang="bg-BG" dirty="0">
                <a:solidFill>
                  <a:srgbClr val="FFFFFF"/>
                </a:solidFill>
              </a:rPr>
              <a:t> 3</a:t>
            </a:r>
            <a:r>
              <a:rPr lang="en-US" dirty="0">
                <a:solidFill>
                  <a:srgbClr val="FFFFFF"/>
                </a:solidFill>
              </a:rPr>
              <a:t>.</a:t>
            </a:r>
            <a:r>
              <a:rPr lang="bg-BG" dirty="0">
                <a:solidFill>
                  <a:srgbClr val="FFFFFF"/>
                </a:solidFill>
              </a:rPr>
              <a:t>3 милиарда транзистора.</a:t>
            </a:r>
            <a:endParaRPr lang="en-US" dirty="0">
              <a:solidFill>
                <a:srgbClr val="FFFFFF"/>
              </a:solidFill>
            </a:endParaRP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П</a:t>
            </a:r>
            <a:r>
              <a:rPr lang="ru-RU" dirty="0">
                <a:solidFill>
                  <a:srgbClr val="FFFFFF"/>
                </a:solidFill>
              </a:rPr>
              <a:t>оддържа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ru-RU" dirty="0">
                <a:solidFill>
                  <a:srgbClr val="FFFFFF"/>
                </a:solidFill>
              </a:rPr>
              <a:t>DisplayPort 1.4, HDMI 2.0b</a:t>
            </a:r>
            <a:r>
              <a:rPr lang="bg-BG" dirty="0">
                <a:solidFill>
                  <a:srgbClr val="FFFFFF"/>
                </a:solidFill>
              </a:rPr>
              <a:t> и</a:t>
            </a:r>
            <a:r>
              <a:rPr lang="ru-RU" dirty="0">
                <a:solidFill>
                  <a:srgbClr val="FFFFFF"/>
                </a:solidFill>
              </a:rPr>
              <a:t> HDR,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ru-RU" dirty="0">
                <a:solidFill>
                  <a:srgbClr val="FFFFFF"/>
                </a:solidFill>
              </a:rPr>
              <a:t>заедно с подобрени възможности за кодиране и декодиране на H.265 видео.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1" name="Picture 20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AEBAEF50-A2E2-0884-392A-21EB01950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442" y="1816210"/>
            <a:ext cx="2107133" cy="21071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7" name="Google Shape;246;p38">
            <a:extLst>
              <a:ext uri="{FF2B5EF4-FFF2-40B4-BE49-F238E27FC236}">
                <a16:creationId xmlns:a16="http://schemas.microsoft.com/office/drawing/2014/main" id="{BC81E4DE-563F-D962-2BAF-EF99717C1741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28" name="Google Shape;247;p38">
              <a:extLst>
                <a:ext uri="{FF2B5EF4-FFF2-40B4-BE49-F238E27FC236}">
                  <a16:creationId xmlns:a16="http://schemas.microsoft.com/office/drawing/2014/main" id="{E50878AE-FD94-0EF4-FD6B-1D528646CF21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29" name="Google Shape;248;p38">
              <a:extLst>
                <a:ext uri="{FF2B5EF4-FFF2-40B4-BE49-F238E27FC236}">
                  <a16:creationId xmlns:a16="http://schemas.microsoft.com/office/drawing/2014/main" id="{898333AA-D23C-B018-28C8-3B16AFC964C2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30" name="Google Shape;249;p38">
              <a:extLst>
                <a:ext uri="{FF2B5EF4-FFF2-40B4-BE49-F238E27FC236}">
                  <a16:creationId xmlns:a16="http://schemas.microsoft.com/office/drawing/2014/main" id="{3A25858C-F732-828D-6C67-5CC6098BBA8E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4054788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4075-5FD5-AAF7-8ACE-7EF7BE18F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5ED03AF-4A04-65E1-3E8F-F9D01D920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08" y="328826"/>
            <a:ext cx="7174433" cy="684047"/>
          </a:xfrm>
        </p:spPr>
        <p:txBody>
          <a:bodyPr/>
          <a:lstStyle/>
          <a:p>
            <a:r>
              <a:rPr lang="bg-BG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Графичен процесор</a:t>
            </a:r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Navi 33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380EC2A-41F9-97A3-07E1-0074983F7AB8}"/>
              </a:ext>
            </a:extLst>
          </p:cNvPr>
          <p:cNvSpPr txBox="1">
            <a:spLocks/>
          </p:cNvSpPr>
          <p:nvPr/>
        </p:nvSpPr>
        <p:spPr>
          <a:xfrm>
            <a:off x="884749" y="1306833"/>
            <a:ext cx="3852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413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400"/>
              <a:buFont typeface="Arimo"/>
              <a:buChar char="●"/>
              <a:tabLst/>
              <a:defRPr/>
            </a:pPr>
            <a:r>
              <a:rPr lang="bg-BG" dirty="0">
                <a:solidFill>
                  <a:srgbClr val="FFFFFF"/>
                </a:solidFill>
              </a:rPr>
              <a:t>Използва микроархитектурата</a:t>
            </a:r>
            <a:r>
              <a:rPr lang="en-US" dirty="0">
                <a:solidFill>
                  <a:srgbClr val="FFFFFF"/>
                </a:solidFill>
              </a:rPr>
              <a:t> RDNA 3.0.</a:t>
            </a:r>
          </a:p>
          <a:p>
            <a:pPr marL="24130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Произведен е по </a:t>
            </a:r>
            <a:r>
              <a:rPr lang="en-US" dirty="0">
                <a:solidFill>
                  <a:srgbClr val="FFFFFF"/>
                </a:solidFill>
              </a:rPr>
              <a:t>6nm </a:t>
            </a:r>
            <a:r>
              <a:rPr lang="bg-BG" dirty="0">
                <a:solidFill>
                  <a:srgbClr val="FFFFFF"/>
                </a:solidFill>
              </a:rPr>
              <a:t>технология в </a:t>
            </a:r>
            <a:r>
              <a:rPr lang="en-US" dirty="0">
                <a:solidFill>
                  <a:srgbClr val="FFFFFF"/>
                </a:solidFill>
              </a:rPr>
              <a:t>TSMC.</a:t>
            </a:r>
          </a:p>
          <a:p>
            <a:pPr marL="24130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Съдържа монолитен чип с размер </a:t>
            </a:r>
            <a:r>
              <a:rPr lang="en-US" dirty="0">
                <a:solidFill>
                  <a:srgbClr val="FFFFFF"/>
                </a:solidFill>
              </a:rPr>
              <a:t>204mm²</a:t>
            </a:r>
            <a:r>
              <a:rPr lang="bg-BG" dirty="0">
                <a:solidFill>
                  <a:srgbClr val="FFFFFF"/>
                </a:solidFill>
              </a:rPr>
              <a:t>, който е </a:t>
            </a:r>
            <a:r>
              <a:rPr lang="ru-RU" dirty="0">
                <a:solidFill>
                  <a:srgbClr val="FFFFFF"/>
                </a:solidFill>
              </a:rPr>
              <a:t>съставен от</a:t>
            </a:r>
            <a:r>
              <a:rPr lang="bg-BG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bg-BG" dirty="0">
                <a:solidFill>
                  <a:srgbClr val="FFFFFF"/>
                </a:solidFill>
              </a:rPr>
              <a:t>3</a:t>
            </a:r>
            <a:r>
              <a:rPr lang="en-US" dirty="0">
                <a:solidFill>
                  <a:srgbClr val="FFFFFF"/>
                </a:solidFill>
              </a:rPr>
              <a:t>.</a:t>
            </a:r>
            <a:r>
              <a:rPr lang="bg-BG" dirty="0">
                <a:solidFill>
                  <a:srgbClr val="FFFFFF"/>
                </a:solidFill>
              </a:rPr>
              <a:t>3 милиарда транзистора.</a:t>
            </a: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/>
              <a:t>В допълнение към подобрената производителност, </a:t>
            </a:r>
            <a:r>
              <a:rPr lang="ru-RU" dirty="0"/>
              <a:t>RDNA 3</a:t>
            </a:r>
            <a:r>
              <a:rPr lang="en-US" dirty="0"/>
              <a:t>.0</a:t>
            </a:r>
            <a:r>
              <a:rPr lang="bg-BG" dirty="0"/>
              <a:t> също въвежда допълнителни ядра и ускорители за поддръжка на </a:t>
            </a:r>
            <a:r>
              <a:rPr lang="en-US" dirty="0"/>
              <a:t>ray tracing</a:t>
            </a:r>
            <a:r>
              <a:rPr lang="bg-BG" dirty="0"/>
              <a:t>, които липсват във видеокарти, базирани на </a:t>
            </a:r>
            <a:r>
              <a:rPr lang="en-US" dirty="0"/>
              <a:t>Pascal</a:t>
            </a:r>
            <a:r>
              <a:rPr lang="bg-BG" dirty="0"/>
              <a:t>.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B90FDB-4290-C54B-6CA0-5A64CB8DC9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23820" y="1697484"/>
            <a:ext cx="2106000" cy="21007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7" name="Google Shape;246;p38">
            <a:extLst>
              <a:ext uri="{FF2B5EF4-FFF2-40B4-BE49-F238E27FC236}">
                <a16:creationId xmlns:a16="http://schemas.microsoft.com/office/drawing/2014/main" id="{9E1AADC8-6085-0353-83EC-F06E51C3AE6F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28" name="Google Shape;247;p38">
              <a:extLst>
                <a:ext uri="{FF2B5EF4-FFF2-40B4-BE49-F238E27FC236}">
                  <a16:creationId xmlns:a16="http://schemas.microsoft.com/office/drawing/2014/main" id="{44FAA38A-1B57-936D-0367-A5535FB5FE73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29" name="Google Shape;248;p38">
              <a:extLst>
                <a:ext uri="{FF2B5EF4-FFF2-40B4-BE49-F238E27FC236}">
                  <a16:creationId xmlns:a16="http://schemas.microsoft.com/office/drawing/2014/main" id="{4D83BE37-B611-1FCB-F7C8-9C30B8E3E351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30" name="Google Shape;249;p38">
              <a:extLst>
                <a:ext uri="{FF2B5EF4-FFF2-40B4-BE49-F238E27FC236}">
                  <a16:creationId xmlns:a16="http://schemas.microsoft.com/office/drawing/2014/main" id="{E13F9806-2C35-4967-243E-BF0E781A31B0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3468856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9E7B74-C29E-5C40-33B9-6C53079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08" y="328826"/>
            <a:ext cx="7174433" cy="684047"/>
          </a:xfrm>
        </p:spPr>
        <p:txBody>
          <a:bodyPr/>
          <a:lstStyle/>
          <a:p>
            <a:pPr algn="ctr"/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GP107 VS Navi 33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CC82D0-2C1A-4FBD-FFA5-5732AE33C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72040" y="1425940"/>
            <a:ext cx="4028723" cy="22977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9BEB2AC-FD3C-9927-D9C2-47DA26E8C6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2526" y="1425940"/>
            <a:ext cx="3745128" cy="22916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0" name="Google Shape;246;p38">
            <a:extLst>
              <a:ext uri="{FF2B5EF4-FFF2-40B4-BE49-F238E27FC236}">
                <a16:creationId xmlns:a16="http://schemas.microsoft.com/office/drawing/2014/main" id="{87D571C9-067D-5B19-E6F5-F67FB0306D70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21" name="Google Shape;247;p38">
              <a:extLst>
                <a:ext uri="{FF2B5EF4-FFF2-40B4-BE49-F238E27FC236}">
                  <a16:creationId xmlns:a16="http://schemas.microsoft.com/office/drawing/2014/main" id="{1F58CA37-0209-C5CA-EEE6-AC9D22E2577D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22" name="Google Shape;248;p38">
              <a:extLst>
                <a:ext uri="{FF2B5EF4-FFF2-40B4-BE49-F238E27FC236}">
                  <a16:creationId xmlns:a16="http://schemas.microsoft.com/office/drawing/2014/main" id="{275ADB30-F5F2-14C4-0A3A-4F0710E6D25F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23" name="Google Shape;249;p38">
              <a:extLst>
                <a:ext uri="{FF2B5EF4-FFF2-40B4-BE49-F238E27FC236}">
                  <a16:creationId xmlns:a16="http://schemas.microsoft.com/office/drawing/2014/main" id="{12DAF5DA-CA1B-75B5-703A-D726AE2F728F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24" name="Google Shape;211;p36">
            <a:extLst>
              <a:ext uri="{FF2B5EF4-FFF2-40B4-BE49-F238E27FC236}">
                <a16:creationId xmlns:a16="http://schemas.microsoft.com/office/drawing/2014/main" id="{FC197EDD-AD45-376A-AB2B-D8AA09D55031}"/>
              </a:ext>
            </a:extLst>
          </p:cNvPr>
          <p:cNvSpPr txBox="1">
            <a:spLocks/>
          </p:cNvSpPr>
          <p:nvPr/>
        </p:nvSpPr>
        <p:spPr>
          <a:xfrm>
            <a:off x="1992100" y="3641705"/>
            <a:ext cx="988601" cy="7295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GP107</a:t>
            </a:r>
            <a:endParaRPr lang="ru-RU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Google Shape;211;p36">
            <a:extLst>
              <a:ext uri="{FF2B5EF4-FFF2-40B4-BE49-F238E27FC236}">
                <a16:creationId xmlns:a16="http://schemas.microsoft.com/office/drawing/2014/main" id="{8B80E533-751F-442F-7DE6-5512B07B0DA2}"/>
              </a:ext>
            </a:extLst>
          </p:cNvPr>
          <p:cNvSpPr txBox="1">
            <a:spLocks/>
          </p:cNvSpPr>
          <p:nvPr/>
        </p:nvSpPr>
        <p:spPr>
          <a:xfrm>
            <a:off x="6205894" y="3641125"/>
            <a:ext cx="1078392" cy="7295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Navi 33</a:t>
            </a:r>
            <a:endParaRPr lang="ru-RU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FC3231-7B4D-F8E3-70AA-9CC58D670405}"/>
              </a:ext>
            </a:extLst>
          </p:cNvPr>
          <p:cNvCxnSpPr/>
          <p:nvPr/>
        </p:nvCxnSpPr>
        <p:spPr>
          <a:xfrm>
            <a:off x="4670894" y="1323877"/>
            <a:ext cx="0" cy="3386667"/>
          </a:xfrm>
          <a:prstGeom prst="line">
            <a:avLst/>
          </a:prstGeom>
          <a:ln w="19050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4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01817-17DC-D7B4-AC48-2F32ACF8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omputer component&#10;&#10;AI-generated content may be incorrect.">
            <a:extLst>
              <a:ext uri="{FF2B5EF4-FFF2-40B4-BE49-F238E27FC236}">
                <a16:creationId xmlns:a16="http://schemas.microsoft.com/office/drawing/2014/main" id="{1F212CF0-CBD5-9310-C60B-64A84F28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476" y="2037507"/>
            <a:ext cx="2517830" cy="16837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3" name="Google Shape;246;p38">
            <a:extLst>
              <a:ext uri="{FF2B5EF4-FFF2-40B4-BE49-F238E27FC236}">
                <a16:creationId xmlns:a16="http://schemas.microsoft.com/office/drawing/2014/main" id="{6DEE7850-8FD9-2C6D-5641-E0D9D34FFAA0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14" name="Google Shape;247;p38">
              <a:extLst>
                <a:ext uri="{FF2B5EF4-FFF2-40B4-BE49-F238E27FC236}">
                  <a16:creationId xmlns:a16="http://schemas.microsoft.com/office/drawing/2014/main" id="{50CDF9A1-243F-95E6-CDA0-999424F2F99C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5" name="Google Shape;248;p38">
              <a:extLst>
                <a:ext uri="{FF2B5EF4-FFF2-40B4-BE49-F238E27FC236}">
                  <a16:creationId xmlns:a16="http://schemas.microsoft.com/office/drawing/2014/main" id="{200172FC-523B-594A-2788-1D7254F60C04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6" name="Google Shape;249;p38">
              <a:extLst>
                <a:ext uri="{FF2B5EF4-FFF2-40B4-BE49-F238E27FC236}">
                  <a16:creationId xmlns:a16="http://schemas.microsoft.com/office/drawing/2014/main" id="{CAD928DC-C64E-1DA5-4EC9-0AC547A52344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1C602-A784-9321-D395-E00C9CBB9B92}"/>
              </a:ext>
            </a:extLst>
          </p:cNvPr>
          <p:cNvSpPr txBox="1">
            <a:spLocks/>
          </p:cNvSpPr>
          <p:nvPr/>
        </p:nvSpPr>
        <p:spPr>
          <a:xfrm>
            <a:off x="884749" y="1313606"/>
            <a:ext cx="3852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Има два варианта</a:t>
            </a:r>
            <a:r>
              <a:rPr lang="en-US" dirty="0">
                <a:solidFill>
                  <a:srgbClr val="FFFFFF"/>
                </a:solidFill>
              </a:rPr>
              <a:t>: </a:t>
            </a:r>
            <a:r>
              <a:rPr lang="bg-BG" dirty="0">
                <a:solidFill>
                  <a:srgbClr val="FFFFFF"/>
                </a:solidFill>
              </a:rPr>
              <a:t>мобилен</a:t>
            </a:r>
            <a:r>
              <a:rPr lang="en-US" dirty="0">
                <a:solidFill>
                  <a:srgbClr val="FFFFFF"/>
                </a:solidFill>
              </a:rPr>
              <a:t> (</a:t>
            </a:r>
            <a:r>
              <a:rPr lang="bg-BG" dirty="0">
                <a:solidFill>
                  <a:srgbClr val="FFFFFF"/>
                </a:solidFill>
              </a:rPr>
              <a:t>за лаптоп</a:t>
            </a:r>
            <a:r>
              <a:rPr lang="en-US" dirty="0">
                <a:solidFill>
                  <a:srgbClr val="FFFFFF"/>
                </a:solidFill>
              </a:rPr>
              <a:t>) </a:t>
            </a:r>
            <a:r>
              <a:rPr lang="bg-BG" dirty="0">
                <a:solidFill>
                  <a:srgbClr val="FFFFFF"/>
                </a:solidFill>
              </a:rPr>
              <a:t>и настолен</a:t>
            </a:r>
            <a:r>
              <a:rPr lang="en-US" dirty="0">
                <a:solidFill>
                  <a:srgbClr val="FFFFFF"/>
                </a:solidFill>
              </a:rPr>
              <a:t> (</a:t>
            </a:r>
            <a:r>
              <a:rPr lang="bg-BG" dirty="0">
                <a:solidFill>
                  <a:srgbClr val="FFFFFF"/>
                </a:solidFill>
              </a:rPr>
              <a:t>за компютър</a:t>
            </a:r>
            <a:r>
              <a:rPr lang="en-US" dirty="0">
                <a:solidFill>
                  <a:srgbClr val="FFFFFF"/>
                </a:solidFill>
              </a:rPr>
              <a:t>)</a:t>
            </a:r>
            <a:r>
              <a:rPr lang="bg-BG" dirty="0">
                <a:solidFill>
                  <a:srgbClr val="FFFFFF"/>
                </a:solidFill>
              </a:rPr>
              <a:t>.</a:t>
            </a:r>
            <a:endParaRPr lang="en-US" dirty="0">
              <a:solidFill>
                <a:srgbClr val="FFFFFF"/>
              </a:solidFill>
            </a:endParaRPr>
          </a:p>
          <a:p>
            <a:pPr marL="2413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400"/>
              <a:buFont typeface="Arimo"/>
              <a:buChar char="●"/>
              <a:tabLst/>
              <a:defRPr/>
            </a:pPr>
            <a:r>
              <a:rPr lang="bg-BG" dirty="0">
                <a:solidFill>
                  <a:srgbClr val="FFFFFF"/>
                </a:solidFill>
              </a:rPr>
              <a:t>Поддържа </a:t>
            </a:r>
            <a:r>
              <a:rPr lang="en-US" dirty="0">
                <a:solidFill>
                  <a:srgbClr val="FFFFFF"/>
                </a:solidFill>
              </a:rPr>
              <a:t>DirectX 12</a:t>
            </a:r>
            <a:r>
              <a:rPr lang="bg-BG" dirty="0">
                <a:solidFill>
                  <a:srgbClr val="FFFFFF"/>
                </a:solidFill>
              </a:rPr>
              <a:t>, което гарантира, че всички съвременни игри ще работят на нея.</a:t>
            </a: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ru-RU" dirty="0">
                <a:solidFill>
                  <a:srgbClr val="FFFFFF"/>
                </a:solidFill>
              </a:rPr>
              <a:t>За разлика от напълно отключената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ru-RU" dirty="0">
                <a:solidFill>
                  <a:srgbClr val="FFFFFF"/>
                </a:solidFill>
              </a:rPr>
              <a:t>GTX 1050 Ti, която използва същия графичен процесор</a:t>
            </a:r>
            <a:r>
              <a:rPr lang="en-US" dirty="0">
                <a:solidFill>
                  <a:srgbClr val="FFFFFF"/>
                </a:solidFill>
              </a:rPr>
              <a:t> (GP107)</a:t>
            </a:r>
            <a:r>
              <a:rPr lang="ru-RU" dirty="0">
                <a:solidFill>
                  <a:srgbClr val="FFFFFF"/>
                </a:solidFill>
              </a:rPr>
              <a:t>, но има активирани всички 768 </a:t>
            </a:r>
            <a:r>
              <a:rPr lang="bg-BG" dirty="0">
                <a:solidFill>
                  <a:srgbClr val="FFFFFF"/>
                </a:solidFill>
              </a:rPr>
              <a:t>ядра, </a:t>
            </a:r>
            <a:r>
              <a:rPr lang="ru-RU" dirty="0">
                <a:solidFill>
                  <a:srgbClr val="FFFFFF"/>
                </a:solidFill>
              </a:rPr>
              <a:t>NVIDIA е деактивирала някои от тях на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ru-RU" dirty="0">
                <a:solidFill>
                  <a:srgbClr val="FFFFFF"/>
                </a:solidFill>
              </a:rPr>
              <a:t>GTX 1050, за да достигне целевия брой </a:t>
            </a:r>
            <a:r>
              <a:rPr lang="bg-BG" dirty="0">
                <a:solidFill>
                  <a:srgbClr val="FFFFFF"/>
                </a:solidFill>
              </a:rPr>
              <a:t>ядра</a:t>
            </a:r>
            <a:r>
              <a:rPr lang="ru-RU" dirty="0">
                <a:solidFill>
                  <a:srgbClr val="FFFFFF"/>
                </a:solidFill>
              </a:rPr>
              <a:t> на продукта</a:t>
            </a:r>
            <a:r>
              <a:rPr lang="en-US" dirty="0">
                <a:solidFill>
                  <a:srgbClr val="FFFFFF"/>
                </a:solidFill>
              </a:rPr>
              <a:t> (640).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6909076-2F0F-FDAD-430B-9F41E6CF6D9D}"/>
              </a:ext>
            </a:extLst>
          </p:cNvPr>
          <p:cNvSpPr txBox="1">
            <a:spLocks/>
          </p:cNvSpPr>
          <p:nvPr/>
        </p:nvSpPr>
        <p:spPr>
          <a:xfrm>
            <a:off x="1001608" y="328826"/>
            <a:ext cx="7174433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GeForce GTX 1050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4558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fan">
            <a:extLst>
              <a:ext uri="{FF2B5EF4-FFF2-40B4-BE49-F238E27FC236}">
                <a16:creationId xmlns:a16="http://schemas.microsoft.com/office/drawing/2014/main" id="{F4E3D738-6FC9-8E13-EABC-9FFE13006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605" y="2034030"/>
            <a:ext cx="2691115" cy="16398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3" name="Google Shape;246;p38">
            <a:extLst>
              <a:ext uri="{FF2B5EF4-FFF2-40B4-BE49-F238E27FC236}">
                <a16:creationId xmlns:a16="http://schemas.microsoft.com/office/drawing/2014/main" id="{DFABFE89-5F42-CC2E-D994-B88CEBCE2882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14" name="Google Shape;247;p38">
              <a:extLst>
                <a:ext uri="{FF2B5EF4-FFF2-40B4-BE49-F238E27FC236}">
                  <a16:creationId xmlns:a16="http://schemas.microsoft.com/office/drawing/2014/main" id="{B23384D5-C92D-2859-EDD4-C24591774FCA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5" name="Google Shape;248;p38">
              <a:extLst>
                <a:ext uri="{FF2B5EF4-FFF2-40B4-BE49-F238E27FC236}">
                  <a16:creationId xmlns:a16="http://schemas.microsoft.com/office/drawing/2014/main" id="{B79EA0EC-5560-B2F8-FC08-D5964784492B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6" name="Google Shape;249;p38">
              <a:extLst>
                <a:ext uri="{FF2B5EF4-FFF2-40B4-BE49-F238E27FC236}">
                  <a16:creationId xmlns:a16="http://schemas.microsoft.com/office/drawing/2014/main" id="{790D52C1-F635-2B5A-DBEC-55B04CE1CD7E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553BD-C629-7C42-7E77-CFA39CCB6B01}"/>
              </a:ext>
            </a:extLst>
          </p:cNvPr>
          <p:cNvSpPr txBox="1">
            <a:spLocks/>
          </p:cNvSpPr>
          <p:nvPr/>
        </p:nvSpPr>
        <p:spPr>
          <a:xfrm>
            <a:off x="884749" y="1306833"/>
            <a:ext cx="3852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По-разпространена е за настолна система </a:t>
            </a:r>
            <a:r>
              <a:rPr lang="en-US" dirty="0">
                <a:solidFill>
                  <a:srgbClr val="FFFFFF"/>
                </a:solidFill>
              </a:rPr>
              <a:t>(desktop)</a:t>
            </a:r>
            <a:r>
              <a:rPr lang="bg-BG" dirty="0">
                <a:solidFill>
                  <a:srgbClr val="FFFFFF"/>
                </a:solidFill>
              </a:rPr>
              <a:t>, но има и мобилен вариант –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GB" dirty="0"/>
              <a:t>Radeon RX 7600S.</a:t>
            </a: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Поддържа </a:t>
            </a:r>
            <a:r>
              <a:rPr lang="en-US" dirty="0">
                <a:solidFill>
                  <a:srgbClr val="FFFFFF"/>
                </a:solidFill>
              </a:rPr>
              <a:t>DirectX 12 Ultimate</a:t>
            </a:r>
            <a:r>
              <a:rPr lang="bg-BG" dirty="0">
                <a:solidFill>
                  <a:srgbClr val="FFFFFF"/>
                </a:solidFill>
              </a:rPr>
              <a:t>, който ѝ дава възможност да се възползва от хардуерен </a:t>
            </a:r>
            <a:r>
              <a:rPr lang="en-US" dirty="0">
                <a:solidFill>
                  <a:srgbClr val="FFFFFF"/>
                </a:solidFill>
              </a:rPr>
              <a:t>ray tracing</a:t>
            </a:r>
            <a:r>
              <a:rPr lang="bg-BG" dirty="0">
                <a:solidFill>
                  <a:srgbClr val="FFFFFF"/>
                </a:solidFill>
              </a:rPr>
              <a:t> и други съвременни графични функции, които подобряват както графиките, така и производителността в игрите.</a:t>
            </a:r>
            <a:endParaRPr lang="en-US" dirty="0">
              <a:solidFill>
                <a:srgbClr val="FFFFFF"/>
              </a:solidFill>
            </a:endParaRP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dirty="0">
                <a:solidFill>
                  <a:srgbClr val="FFFFFF"/>
                </a:solidFill>
              </a:rPr>
              <a:t>Поддържа едновременното свързване на 4 монитора чрез </a:t>
            </a:r>
            <a:r>
              <a:rPr lang="en-US" dirty="0">
                <a:solidFill>
                  <a:srgbClr val="FFFFFF"/>
                </a:solidFill>
              </a:rPr>
              <a:t>DisplayPort 1.4 (3x)</a:t>
            </a:r>
            <a:r>
              <a:rPr lang="bg-BG" dirty="0">
                <a:solidFill>
                  <a:srgbClr val="FFFFFF"/>
                </a:solidFill>
              </a:rPr>
              <a:t> и </a:t>
            </a:r>
            <a:r>
              <a:rPr lang="en-US" dirty="0">
                <a:solidFill>
                  <a:srgbClr val="FFFFFF"/>
                </a:solidFill>
              </a:rPr>
              <a:t>HDMI 2.1 (1x)</a:t>
            </a:r>
            <a:r>
              <a:rPr lang="bg-BG" dirty="0">
                <a:solidFill>
                  <a:srgbClr val="FFFFFF"/>
                </a:solidFill>
              </a:rPr>
              <a:t>, докато </a:t>
            </a:r>
            <a:r>
              <a:rPr lang="en-US" dirty="0">
                <a:solidFill>
                  <a:srgbClr val="FFFFFF"/>
                </a:solidFill>
              </a:rPr>
              <a:t>GTX </a:t>
            </a:r>
            <a:r>
              <a:rPr lang="bg-BG" dirty="0">
                <a:solidFill>
                  <a:srgbClr val="FFFFFF"/>
                </a:solidFill>
              </a:rPr>
              <a:t>1050 поддържа до 3 монитора.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1482DF5-9C48-5F9E-D719-B497C8A4174B}"/>
              </a:ext>
            </a:extLst>
          </p:cNvPr>
          <p:cNvSpPr txBox="1">
            <a:spLocks/>
          </p:cNvSpPr>
          <p:nvPr/>
        </p:nvSpPr>
        <p:spPr>
          <a:xfrm>
            <a:off x="1001608" y="328826"/>
            <a:ext cx="7174433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Radeon RX 7600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3186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F0A9DF5-A06C-2800-50DC-173168CB6F81}"/>
              </a:ext>
            </a:extLst>
          </p:cNvPr>
          <p:cNvSpPr txBox="1">
            <a:spLocks/>
          </p:cNvSpPr>
          <p:nvPr/>
        </p:nvSpPr>
        <p:spPr>
          <a:xfrm>
            <a:off x="1001609" y="328826"/>
            <a:ext cx="7174432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bg-BG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Базови параметри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211AE0-D38E-8950-0FB0-E99B09E61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026789"/>
              </p:ext>
            </p:extLst>
          </p:nvPr>
        </p:nvGraphicFramePr>
        <p:xfrm>
          <a:off x="1178376" y="1306480"/>
          <a:ext cx="6787248" cy="30691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262416">
                  <a:extLst>
                    <a:ext uri="{9D8B030D-6E8A-4147-A177-3AD203B41FA5}">
                      <a16:colId xmlns:a16="http://schemas.microsoft.com/office/drawing/2014/main" val="1590561477"/>
                    </a:ext>
                  </a:extLst>
                </a:gridCol>
                <a:gridCol w="2262416">
                  <a:extLst>
                    <a:ext uri="{9D8B030D-6E8A-4147-A177-3AD203B41FA5}">
                      <a16:colId xmlns:a16="http://schemas.microsoft.com/office/drawing/2014/main" val="1501775181"/>
                    </a:ext>
                  </a:extLst>
                </a:gridCol>
                <a:gridCol w="2262416">
                  <a:extLst>
                    <a:ext uri="{9D8B030D-6E8A-4147-A177-3AD203B41FA5}">
                      <a16:colId xmlns:a16="http://schemas.microsoft.com/office/drawing/2014/main" val="3573583450"/>
                    </a:ext>
                  </a:extLst>
                </a:gridCol>
              </a:tblGrid>
              <a:tr h="345121">
                <a:tc>
                  <a:txBody>
                    <a:bodyPr/>
                    <a:lstStyle/>
                    <a:p>
                      <a:pPr algn="ctr"/>
                      <a:r>
                        <a:rPr lang="bg-BG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Параметър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GeForce GTX 1050</a:t>
                      </a:r>
                      <a:endParaRPr lang="bg-BG" sz="1400" spc="7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Radeon RX 7600</a:t>
                      </a:r>
                      <a:endParaRPr lang="bg-BG" sz="1400" spc="7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521417"/>
                  </a:ext>
                </a:extLst>
              </a:tr>
              <a:tr h="298152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Година на излизане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2016 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г.</a:t>
                      </a: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2023 г.</a:t>
                      </a: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5184246"/>
                  </a:ext>
                </a:extLst>
              </a:tr>
              <a:tr h="298152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Архитектура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Pascal (14nm)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RDNA 3.0 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(6nm)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7849078"/>
                  </a:ext>
                </a:extLst>
              </a:tr>
              <a:tr h="298152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Ядра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/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Нишки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640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2048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5632764"/>
                  </a:ext>
                </a:extLst>
              </a:tr>
              <a:tr h="298152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Тактова честота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1354 / 1455 MHz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1720 / 2655 MHz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20552386"/>
                  </a:ext>
                </a:extLst>
              </a:tr>
              <a:tr h="298152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Видео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памет 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(VRAM)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2GB GDDR5 (128-bit)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8GB GDDR6 (128-bit)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67100213"/>
                  </a:ext>
                </a:extLst>
              </a:tr>
              <a:tr h="455899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Скорост на обмен на данни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(Bandwidth)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112 GB/s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288 GB/s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65531146"/>
                  </a:ext>
                </a:extLst>
              </a:tr>
              <a:tr h="298152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Максимална мощност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(TDP)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75W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165W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36946268"/>
                  </a:ext>
                </a:extLst>
              </a:tr>
              <a:tr h="455899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Интерфейс на системната шина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PCIe 3.0 x16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PCIe 4.0 x8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993372"/>
                  </a:ext>
                </a:extLst>
              </a:tr>
            </a:tbl>
          </a:graphicData>
        </a:graphic>
      </p:graphicFrame>
      <p:grpSp>
        <p:nvGrpSpPr>
          <p:cNvPr id="2" name="Google Shape;246;p38">
            <a:extLst>
              <a:ext uri="{FF2B5EF4-FFF2-40B4-BE49-F238E27FC236}">
                <a16:creationId xmlns:a16="http://schemas.microsoft.com/office/drawing/2014/main" id="{2D05DEE1-39D9-6BEF-F40B-9036DA31F3DE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9" name="Google Shape;247;p38">
              <a:extLst>
                <a:ext uri="{FF2B5EF4-FFF2-40B4-BE49-F238E27FC236}">
                  <a16:creationId xmlns:a16="http://schemas.microsoft.com/office/drawing/2014/main" id="{3F84322F-918D-DBE3-1C96-FF0851AFA74E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0" name="Google Shape;248;p38">
              <a:extLst>
                <a:ext uri="{FF2B5EF4-FFF2-40B4-BE49-F238E27FC236}">
                  <a16:creationId xmlns:a16="http://schemas.microsoft.com/office/drawing/2014/main" id="{2F132D98-B0F8-58DF-82A1-B23B980B9AA5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1" name="Google Shape;249;p38">
              <a:extLst>
                <a:ext uri="{FF2B5EF4-FFF2-40B4-BE49-F238E27FC236}">
                  <a16:creationId xmlns:a16="http://schemas.microsoft.com/office/drawing/2014/main" id="{D0975F0E-A2B0-9BEF-2102-7CDA57C0F59F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6498119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7E2D-969E-6127-EEFB-FCDD1A00C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444335-EAE7-E757-221A-874AE16A6B49}"/>
              </a:ext>
            </a:extLst>
          </p:cNvPr>
          <p:cNvSpPr txBox="1">
            <a:spLocks/>
          </p:cNvSpPr>
          <p:nvPr/>
        </p:nvSpPr>
        <p:spPr>
          <a:xfrm>
            <a:off x="1001609" y="419954"/>
            <a:ext cx="7174432" cy="597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bg-BG" sz="30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Мощност и изисквания за охлаждане</a:t>
            </a:r>
            <a:endParaRPr lang="bg-BG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41B76B-299D-6651-228B-BEEB62804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250518"/>
              </p:ext>
            </p:extLst>
          </p:nvPr>
        </p:nvGraphicFramePr>
        <p:xfrm>
          <a:off x="1178376" y="1306477"/>
          <a:ext cx="6787248" cy="282243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262416">
                  <a:extLst>
                    <a:ext uri="{9D8B030D-6E8A-4147-A177-3AD203B41FA5}">
                      <a16:colId xmlns:a16="http://schemas.microsoft.com/office/drawing/2014/main" val="1590561477"/>
                    </a:ext>
                  </a:extLst>
                </a:gridCol>
                <a:gridCol w="2262416">
                  <a:extLst>
                    <a:ext uri="{9D8B030D-6E8A-4147-A177-3AD203B41FA5}">
                      <a16:colId xmlns:a16="http://schemas.microsoft.com/office/drawing/2014/main" val="1501775181"/>
                    </a:ext>
                  </a:extLst>
                </a:gridCol>
                <a:gridCol w="2262416">
                  <a:extLst>
                    <a:ext uri="{9D8B030D-6E8A-4147-A177-3AD203B41FA5}">
                      <a16:colId xmlns:a16="http://schemas.microsoft.com/office/drawing/2014/main" val="3573583450"/>
                    </a:ext>
                  </a:extLst>
                </a:gridCol>
              </a:tblGrid>
              <a:tr h="339504">
                <a:tc>
                  <a:txBody>
                    <a:bodyPr/>
                    <a:lstStyle/>
                    <a:p>
                      <a:pPr algn="ctr"/>
                      <a:r>
                        <a:rPr lang="bg-BG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Изискване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GeForce GTX 1050</a:t>
                      </a:r>
                      <a:endParaRPr lang="bg-BG" sz="1400" spc="7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Radeon RX 7600</a:t>
                      </a:r>
                      <a:endParaRPr lang="bg-BG" sz="1400" spc="7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521417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Максимална мощност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(TDP)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75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W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165W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5184246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Максимална температура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97°C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110°C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9005877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Захранващ конектор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Няма</a:t>
                      </a: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1x 8-pin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7849078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Охлаждане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Единичен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/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двоен вентилатор</a:t>
                      </a: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Двоен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/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троен вентилатор</a:t>
                      </a: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5632764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Мощност в 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idle 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режим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~5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Arimo" panose="020B0604020202020204" charset="0"/>
                          <a:cs typeface="Arimo" panose="020B0604020202020204" charset="0"/>
                        </a:rPr>
                        <a:t>–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10W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~10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Arimo" panose="020B0604020202020204" charset="0"/>
                          <a:cs typeface="Arimo" panose="020B0604020202020204" charset="0"/>
                        </a:rPr>
                        <a:t>–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20W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20552386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Мощност при натоварване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75W (max)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165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Arimo" panose="020B0604020202020204" charset="0"/>
                          <a:cs typeface="Arimo" panose="020B0604020202020204" charset="0"/>
                        </a:rPr>
                        <a:t>–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185W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67100213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Препоръчително захранване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(PSU)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300W (min)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550W (min)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135558"/>
                  </a:ext>
                </a:extLst>
              </a:tr>
            </a:tbl>
          </a:graphicData>
        </a:graphic>
      </p:graphicFrame>
      <p:grpSp>
        <p:nvGrpSpPr>
          <p:cNvPr id="2" name="Google Shape;246;p38">
            <a:extLst>
              <a:ext uri="{FF2B5EF4-FFF2-40B4-BE49-F238E27FC236}">
                <a16:creationId xmlns:a16="http://schemas.microsoft.com/office/drawing/2014/main" id="{FA2B6B5A-190E-C0F0-2454-01F1A05371AC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9" name="Google Shape;247;p38">
              <a:extLst>
                <a:ext uri="{FF2B5EF4-FFF2-40B4-BE49-F238E27FC236}">
                  <a16:creationId xmlns:a16="http://schemas.microsoft.com/office/drawing/2014/main" id="{95380EA6-84C2-1686-7C5C-FC0CDC9B3042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0" name="Google Shape;248;p38">
              <a:extLst>
                <a:ext uri="{FF2B5EF4-FFF2-40B4-BE49-F238E27FC236}">
                  <a16:creationId xmlns:a16="http://schemas.microsoft.com/office/drawing/2014/main" id="{83A1E91A-107B-DA34-FAF3-43A6AC5684DC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1" name="Google Shape;249;p38">
              <a:extLst>
                <a:ext uri="{FF2B5EF4-FFF2-40B4-BE49-F238E27FC236}">
                  <a16:creationId xmlns:a16="http://schemas.microsoft.com/office/drawing/2014/main" id="{6F601295-0331-C5D4-E131-726463FA3DF6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30561114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2E628-187F-A18B-D4B4-2E77A4EC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46;p38">
            <a:extLst>
              <a:ext uri="{FF2B5EF4-FFF2-40B4-BE49-F238E27FC236}">
                <a16:creationId xmlns:a16="http://schemas.microsoft.com/office/drawing/2014/main" id="{C04CAFD4-6149-45EB-3D6F-17212936E2E3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9" name="Google Shape;247;p38">
              <a:extLst>
                <a:ext uri="{FF2B5EF4-FFF2-40B4-BE49-F238E27FC236}">
                  <a16:creationId xmlns:a16="http://schemas.microsoft.com/office/drawing/2014/main" id="{DEDECA23-2270-7F1D-520D-8333013371AD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0" name="Google Shape;248;p38">
              <a:extLst>
                <a:ext uri="{FF2B5EF4-FFF2-40B4-BE49-F238E27FC236}">
                  <a16:creationId xmlns:a16="http://schemas.microsoft.com/office/drawing/2014/main" id="{CBF13824-96AA-42B8-BCEF-37873C0CF5A0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1" name="Google Shape;249;p38">
              <a:extLst>
                <a:ext uri="{FF2B5EF4-FFF2-40B4-BE49-F238E27FC236}">
                  <a16:creationId xmlns:a16="http://schemas.microsoft.com/office/drawing/2014/main" id="{DE5BFB1F-8ABE-15D7-B982-BF6F3566CC21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644712A3-400B-AA9E-FA3D-B490A18421DE}"/>
              </a:ext>
            </a:extLst>
          </p:cNvPr>
          <p:cNvSpPr txBox="1">
            <a:spLocks/>
          </p:cNvSpPr>
          <p:nvPr/>
        </p:nvSpPr>
        <p:spPr>
          <a:xfrm>
            <a:off x="1001609" y="328826"/>
            <a:ext cx="7174432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bg-BG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Поддържани технологии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F8914F-24D9-C4EE-B931-034ED3211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895146"/>
              </p:ext>
            </p:extLst>
          </p:nvPr>
        </p:nvGraphicFramePr>
        <p:xfrm>
          <a:off x="1178376" y="1306477"/>
          <a:ext cx="6787248" cy="266942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262416">
                  <a:extLst>
                    <a:ext uri="{9D8B030D-6E8A-4147-A177-3AD203B41FA5}">
                      <a16:colId xmlns:a16="http://schemas.microsoft.com/office/drawing/2014/main" val="1590561477"/>
                    </a:ext>
                  </a:extLst>
                </a:gridCol>
                <a:gridCol w="2262416">
                  <a:extLst>
                    <a:ext uri="{9D8B030D-6E8A-4147-A177-3AD203B41FA5}">
                      <a16:colId xmlns:a16="http://schemas.microsoft.com/office/drawing/2014/main" val="1501775181"/>
                    </a:ext>
                  </a:extLst>
                </a:gridCol>
                <a:gridCol w="2262416">
                  <a:extLst>
                    <a:ext uri="{9D8B030D-6E8A-4147-A177-3AD203B41FA5}">
                      <a16:colId xmlns:a16="http://schemas.microsoft.com/office/drawing/2014/main" val="3573583450"/>
                    </a:ext>
                  </a:extLst>
                </a:gridCol>
              </a:tblGrid>
              <a:tr h="339504">
                <a:tc>
                  <a:txBody>
                    <a:bodyPr/>
                    <a:lstStyle/>
                    <a:p>
                      <a:pPr algn="ctr"/>
                      <a:r>
                        <a:rPr lang="bg-BG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Технология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GeForce GTX 1050</a:t>
                      </a:r>
                      <a:endParaRPr lang="bg-BG" sz="1400" spc="7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Radeon RX 7600</a:t>
                      </a:r>
                      <a:endParaRPr lang="bg-BG" sz="1400" spc="7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521417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Ray Tracing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Не</a:t>
                      </a: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Да</a:t>
                      </a: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5184246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DLSS / FSR / RSR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Не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/ FSR 1.x / 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Не</a:t>
                      </a: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Не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/ FSR 2.x / 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Да</a:t>
                      </a: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7849078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AV1 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кодиране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/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декодиране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Не</a:t>
                      </a: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Да</a:t>
                      </a: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5632764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Поддържани портове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DisplayPort, HDMI, DVI-D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DisplayPort, HDMI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20552386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Драйвери и актуализации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Legacy (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само корекции на критични бъгове и актуализации за сигурност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Активна поддръжка 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(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нови функции, оптимизации на производителността и др.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67100213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API </a:t>
                      </a:r>
                      <a:r>
                        <a:rPr lang="bg-BG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поддръжка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DirectX 12 (12_1)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DirectX 12 Ultimate (12_2)</a:t>
                      </a:r>
                      <a:endParaRPr lang="bg-BG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135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229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5FAD-BAE4-27BC-B75B-A2EB95CE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F7ED696-8E48-9D03-DE4D-6E0FF6543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162315"/>
              </p:ext>
            </p:extLst>
          </p:nvPr>
        </p:nvGraphicFramePr>
        <p:xfrm>
          <a:off x="1178376" y="1306477"/>
          <a:ext cx="6787248" cy="146366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696812">
                  <a:extLst>
                    <a:ext uri="{9D8B030D-6E8A-4147-A177-3AD203B41FA5}">
                      <a16:colId xmlns:a16="http://schemas.microsoft.com/office/drawing/2014/main" val="1590561477"/>
                    </a:ext>
                  </a:extLst>
                </a:gridCol>
                <a:gridCol w="1696812">
                  <a:extLst>
                    <a:ext uri="{9D8B030D-6E8A-4147-A177-3AD203B41FA5}">
                      <a16:colId xmlns:a16="http://schemas.microsoft.com/office/drawing/2014/main" val="1501775181"/>
                    </a:ext>
                  </a:extLst>
                </a:gridCol>
                <a:gridCol w="1696812">
                  <a:extLst>
                    <a:ext uri="{9D8B030D-6E8A-4147-A177-3AD203B41FA5}">
                      <a16:colId xmlns:a16="http://schemas.microsoft.com/office/drawing/2014/main" val="3573583450"/>
                    </a:ext>
                  </a:extLst>
                </a:gridCol>
                <a:gridCol w="1696812">
                  <a:extLst>
                    <a:ext uri="{9D8B030D-6E8A-4147-A177-3AD203B41FA5}">
                      <a16:colId xmlns:a16="http://schemas.microsoft.com/office/drawing/2014/main" val="3574231129"/>
                    </a:ext>
                  </a:extLst>
                </a:gridCol>
              </a:tblGrid>
              <a:tr h="339504">
                <a:tc>
                  <a:txBody>
                    <a:bodyPr/>
                    <a:lstStyle/>
                    <a:p>
                      <a:pPr algn="ctr"/>
                      <a:r>
                        <a:rPr lang="bg-BG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Графична карта</a:t>
                      </a: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Първоначална цена</a:t>
                      </a: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Цена в днешно време</a:t>
                      </a:r>
                      <a:r>
                        <a:rPr lang="en-US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(2025 </a:t>
                      </a:r>
                      <a:r>
                        <a:rPr lang="bg-BG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г.</a:t>
                      </a:r>
                      <a:r>
                        <a:rPr lang="en-US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)</a:t>
                      </a:r>
                      <a:endParaRPr lang="bg-BG" sz="1400" spc="70" baseline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spc="70" baseline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Пазарно позициониране</a:t>
                      </a: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521417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GeForce GTX 1050</a:t>
                      </a:r>
                      <a:endParaRPr lang="bg-BG" sz="1200" b="0" i="0" u="none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$109</a:t>
                      </a:r>
                      <a:endParaRPr lang="bg-BG" sz="1200" b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$40</a:t>
                      </a:r>
                      <a:r>
                        <a:rPr lang="bg-BG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Arimo" panose="020B0604020202020204" charset="0"/>
                          <a:cs typeface="Arimo" panose="020B0604020202020204" charset="0"/>
                        </a:rPr>
                        <a:t>–</a:t>
                      </a:r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70 (</a:t>
                      </a:r>
                      <a:r>
                        <a:rPr lang="bg-BG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използвана</a:t>
                      </a:r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)</a:t>
                      </a:r>
                      <a:endParaRPr lang="bg-BG" sz="1200" b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Бюджетна карта за по-стари</a:t>
                      </a:r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/</a:t>
                      </a:r>
                      <a:r>
                        <a:rPr lang="bg-BG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леки игри</a:t>
                      </a: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5184246"/>
                  </a:ext>
                </a:extLst>
              </a:tr>
              <a:tr h="33589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Radeon RX 7600</a:t>
                      </a:r>
                      <a:endParaRPr lang="bg-BG" sz="1200" b="0" i="0" u="none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L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$269</a:t>
                      </a:r>
                      <a:endParaRPr lang="bg-BG" sz="1200" b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$250</a:t>
                      </a:r>
                      <a:r>
                        <a:rPr lang="bg-BG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Arimo" panose="020B0604020202020204" charset="0"/>
                          <a:cs typeface="Arimo" panose="020B0604020202020204" charset="0"/>
                        </a:rPr>
                        <a:t>–</a:t>
                      </a:r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315 (</a:t>
                      </a:r>
                      <a:r>
                        <a:rPr lang="bg-BG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нова</a:t>
                      </a:r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)</a:t>
                      </a:r>
                      <a:endParaRPr lang="bg-BG" sz="1200" b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Arimo" panose="020B0604020202020204" charset="0"/>
                        <a:ea typeface="Arimo" panose="020B0604020202020204" charset="0"/>
                        <a:cs typeface="Arimo" panose="020B0604020202020204" charset="0"/>
                      </a:endParaRPr>
                    </a:p>
                  </a:txBody>
                  <a:tcPr marL="101809" marR="101809" marT="50904" marB="50904" anchor="ctr"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Поддържа по-ресурсоемки</a:t>
                      </a:r>
                      <a:r>
                        <a:rPr lang="en-US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 </a:t>
                      </a:r>
                      <a:r>
                        <a:rPr lang="bg-BG" sz="1200" b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Arimo" panose="020B0604020202020204" charset="0"/>
                          <a:ea typeface="Arimo" panose="020B0604020202020204" charset="0"/>
                          <a:cs typeface="Arimo" panose="020B0604020202020204" charset="0"/>
                        </a:rPr>
                        <a:t>игри</a:t>
                      </a:r>
                    </a:p>
                  </a:txBody>
                  <a:tcPr marL="101809" marR="101809" marT="50904" marB="50904" anchor="ctr">
                    <a:lnR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49078"/>
                  </a:ext>
                </a:extLst>
              </a:tr>
            </a:tbl>
          </a:graphicData>
        </a:graphic>
      </p:graphicFrame>
      <p:grpSp>
        <p:nvGrpSpPr>
          <p:cNvPr id="2" name="Google Shape;246;p38">
            <a:extLst>
              <a:ext uri="{FF2B5EF4-FFF2-40B4-BE49-F238E27FC236}">
                <a16:creationId xmlns:a16="http://schemas.microsoft.com/office/drawing/2014/main" id="{CD3DA205-5E23-DC3C-BFA1-0AB82E487DB1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9" name="Google Shape;247;p38">
              <a:extLst>
                <a:ext uri="{FF2B5EF4-FFF2-40B4-BE49-F238E27FC236}">
                  <a16:creationId xmlns:a16="http://schemas.microsoft.com/office/drawing/2014/main" id="{DF327ADA-925F-15FD-7873-8638B1AFACF4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0" name="Google Shape;248;p38">
              <a:extLst>
                <a:ext uri="{FF2B5EF4-FFF2-40B4-BE49-F238E27FC236}">
                  <a16:creationId xmlns:a16="http://schemas.microsoft.com/office/drawing/2014/main" id="{289AF5F5-525B-F524-0469-80273EC70DDB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1" name="Google Shape;249;p38">
              <a:extLst>
                <a:ext uri="{FF2B5EF4-FFF2-40B4-BE49-F238E27FC236}">
                  <a16:creationId xmlns:a16="http://schemas.microsoft.com/office/drawing/2014/main" id="{A0F932AE-29BF-1D6B-1ED5-24BB89383511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BEC2C23B-723F-432B-9255-E70425D639E7}"/>
              </a:ext>
            </a:extLst>
          </p:cNvPr>
          <p:cNvSpPr txBox="1">
            <a:spLocks/>
          </p:cNvSpPr>
          <p:nvPr/>
        </p:nvSpPr>
        <p:spPr>
          <a:xfrm>
            <a:off x="1001609" y="328826"/>
            <a:ext cx="7174432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bg-BG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Цена при поява на пазара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3FD350D-9305-A56C-CA24-23E0DECDE3E7}"/>
              </a:ext>
            </a:extLst>
          </p:cNvPr>
          <p:cNvSpPr txBox="1">
            <a:spLocks/>
          </p:cNvSpPr>
          <p:nvPr/>
        </p:nvSpPr>
        <p:spPr>
          <a:xfrm>
            <a:off x="1027035" y="2770141"/>
            <a:ext cx="7149006" cy="194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ru-RU" sz="1300" dirty="0"/>
              <a:t>Цената на GTX 1050 я прави достъпна за широка аудитория, но нейната търсеност започва да се понижава,</a:t>
            </a:r>
            <a:r>
              <a:rPr lang="bg-BG" sz="1300" dirty="0"/>
              <a:t> защото</a:t>
            </a:r>
            <a:r>
              <a:rPr lang="ru-RU" sz="1300" dirty="0"/>
              <a:t> съвременните игри</a:t>
            </a:r>
            <a:r>
              <a:rPr lang="bg-BG" sz="1300" dirty="0"/>
              <a:t> стават все по-тежки и</a:t>
            </a:r>
            <a:r>
              <a:rPr lang="ru-RU" sz="1300" dirty="0"/>
              <a:t> изискват</a:t>
            </a:r>
            <a:r>
              <a:rPr lang="bg-BG" sz="1300" dirty="0"/>
              <a:t> </a:t>
            </a:r>
            <a:r>
              <a:rPr lang="ru-RU" sz="1300" dirty="0"/>
              <a:t>повече ресурси.</a:t>
            </a:r>
            <a:r>
              <a:rPr lang="bg-BG" sz="1300" dirty="0"/>
              <a:t> Основно ограничение на тази карта са нейните 2</a:t>
            </a:r>
            <a:r>
              <a:rPr lang="en-US" sz="1300" dirty="0"/>
              <a:t>GB</a:t>
            </a:r>
            <a:r>
              <a:rPr lang="bg-BG" sz="1300" dirty="0"/>
              <a:t> видео памет</a:t>
            </a:r>
            <a:r>
              <a:rPr lang="en-US" sz="1300" dirty="0"/>
              <a:t>.</a:t>
            </a: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US" sz="1300" dirty="0"/>
              <a:t>GTX 1050</a:t>
            </a:r>
            <a:r>
              <a:rPr lang="bg-BG" sz="1300" dirty="0"/>
              <a:t> все още получава поддръжка за нови драйвери от </a:t>
            </a:r>
            <a:r>
              <a:rPr lang="en-US" sz="1300" dirty="0"/>
              <a:t>NVIDIA</a:t>
            </a:r>
            <a:r>
              <a:rPr lang="bg-BG" sz="1300" dirty="0"/>
              <a:t>, но вече</a:t>
            </a:r>
            <a:r>
              <a:rPr lang="en-US" sz="1300" dirty="0"/>
              <a:t> </a:t>
            </a:r>
            <a:r>
              <a:rPr lang="bg-BG" sz="1300" dirty="0"/>
              <a:t>се продава предимно втора употреба.</a:t>
            </a:r>
            <a:endParaRPr lang="en-US" sz="1300" dirty="0"/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US" sz="1300" dirty="0"/>
              <a:t>RX 7600 </a:t>
            </a:r>
            <a:r>
              <a:rPr lang="ru-RU" sz="1300" dirty="0"/>
              <a:t>е конкурентна</a:t>
            </a:r>
            <a:r>
              <a:rPr lang="bg-BG" sz="1300" dirty="0"/>
              <a:t> в днешния пазар</a:t>
            </a:r>
            <a:r>
              <a:rPr lang="ru-RU" sz="1300" dirty="0"/>
              <a:t> и предлага силно съотношение цена/производителност.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66268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C211566C-A6E9-DB07-7851-E04B49978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35" y="437661"/>
            <a:ext cx="7149006" cy="585976"/>
          </a:xfrm>
        </p:spPr>
        <p:txBody>
          <a:bodyPr/>
          <a:lstStyle/>
          <a:p>
            <a:pPr algn="ctr"/>
            <a:r>
              <a:rPr lang="bg-BG" sz="278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Особености на серията </a:t>
            </a:r>
            <a:r>
              <a:rPr lang="en-US" sz="278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GeForce GTX 10</a:t>
            </a:r>
            <a:endParaRPr lang="bg-BG" sz="27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2" name="Google Shape;246;p38">
            <a:extLst>
              <a:ext uri="{FF2B5EF4-FFF2-40B4-BE49-F238E27FC236}">
                <a16:creationId xmlns:a16="http://schemas.microsoft.com/office/drawing/2014/main" id="{DD82EC56-3E0A-813D-9603-D45E5E238363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33" name="Google Shape;247;p38">
              <a:extLst>
                <a:ext uri="{FF2B5EF4-FFF2-40B4-BE49-F238E27FC236}">
                  <a16:creationId xmlns:a16="http://schemas.microsoft.com/office/drawing/2014/main" id="{359E7FD8-EC9C-ADD8-1806-9D324FD8A7C1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34" name="Google Shape;248;p38">
              <a:extLst>
                <a:ext uri="{FF2B5EF4-FFF2-40B4-BE49-F238E27FC236}">
                  <a16:creationId xmlns:a16="http://schemas.microsoft.com/office/drawing/2014/main" id="{9BA77345-5BE6-1F33-FC7C-C0365700112A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35" name="Google Shape;249;p38">
              <a:extLst>
                <a:ext uri="{FF2B5EF4-FFF2-40B4-BE49-F238E27FC236}">
                  <a16:creationId xmlns:a16="http://schemas.microsoft.com/office/drawing/2014/main" id="{5477AB0D-2303-211D-905B-585678DD2BDB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1D9025F1-BEA5-693A-CF09-0F8E8A215683}"/>
              </a:ext>
            </a:extLst>
          </p:cNvPr>
          <p:cNvSpPr txBox="1">
            <a:spLocks/>
          </p:cNvSpPr>
          <p:nvPr/>
        </p:nvSpPr>
        <p:spPr>
          <a:xfrm>
            <a:off x="884749" y="1297765"/>
            <a:ext cx="7291292" cy="3450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sz="1300" dirty="0"/>
              <a:t>Поддържа специализирани паралелни блокове за обработка на данни</a:t>
            </a:r>
            <a:r>
              <a:rPr lang="en-US" sz="1300" dirty="0"/>
              <a:t> (CUDA </a:t>
            </a:r>
            <a:r>
              <a:rPr lang="bg-BG" sz="1300" dirty="0"/>
              <a:t>ядра</a:t>
            </a:r>
            <a:r>
              <a:rPr lang="en-US" sz="1300" dirty="0"/>
              <a:t>)</a:t>
            </a:r>
            <a:r>
              <a:rPr lang="bg-BG" sz="1300" dirty="0"/>
              <a:t> за повечето модели, които имат по-усъвършенствани способности за извършване на хиляди паралелни изчисления</a:t>
            </a:r>
            <a:r>
              <a:rPr lang="en-US" sz="1300" dirty="0"/>
              <a:t>.</a:t>
            </a: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sz="1300" dirty="0"/>
              <a:t>Въвежда </a:t>
            </a:r>
            <a:r>
              <a:rPr lang="en-US" sz="1300" dirty="0"/>
              <a:t>GPU Boost 3.0</a:t>
            </a:r>
            <a:r>
              <a:rPr lang="bg-BG" sz="1300" dirty="0"/>
              <a:t>, който динамично регулира тактовата честота в зависимост от температурата на картата и енергийния запас.</a:t>
            </a:r>
            <a:endParaRPr lang="en-US" sz="1300" dirty="0"/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ru-RU" sz="1300" dirty="0"/>
              <a:t>Архитектурата</a:t>
            </a:r>
            <a:r>
              <a:rPr lang="bg-BG" sz="1300" dirty="0"/>
              <a:t> ѝ </a:t>
            </a:r>
            <a:r>
              <a:rPr lang="en-US" sz="1300" dirty="0"/>
              <a:t>(Pascal)</a:t>
            </a:r>
            <a:r>
              <a:rPr lang="ru-RU" sz="1300" dirty="0"/>
              <a:t> включва нов контролер на</a:t>
            </a:r>
            <a:r>
              <a:rPr lang="bg-BG" sz="1300" dirty="0"/>
              <a:t> видео</a:t>
            </a:r>
            <a:r>
              <a:rPr lang="ru-RU" sz="1300" dirty="0"/>
              <a:t> паметта, поддържащ както GDDR5, така и GDDR5X типове памет,</a:t>
            </a:r>
            <a:r>
              <a:rPr lang="bg-BG" sz="1300" dirty="0"/>
              <a:t> които имат</a:t>
            </a:r>
            <a:r>
              <a:rPr lang="ru-RU" sz="1300" dirty="0"/>
              <a:t> по-висока скорост на пренос на данните</a:t>
            </a:r>
            <a:r>
              <a:rPr lang="en-US" sz="1300" dirty="0"/>
              <a:t> (bandwidth).</a:t>
            </a:r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ru-RU" sz="1300" dirty="0"/>
              <a:t>Серията</a:t>
            </a:r>
            <a:r>
              <a:rPr lang="bg-BG" sz="1300" dirty="0"/>
              <a:t> също въвежда</a:t>
            </a:r>
            <a:r>
              <a:rPr lang="en-US" sz="1300" dirty="0"/>
              <a:t> </a:t>
            </a:r>
            <a:r>
              <a:rPr lang="ru-RU" sz="1300" dirty="0"/>
              <a:t>система за динамично балансиране на натоварването, позволяваща на</a:t>
            </a:r>
            <a:r>
              <a:rPr lang="bg-BG" sz="1300" dirty="0"/>
              <a:t> графичния </a:t>
            </a:r>
            <a:r>
              <a:rPr lang="ru-RU" sz="1300" dirty="0"/>
              <a:t>планировчик</a:t>
            </a:r>
            <a:r>
              <a:rPr lang="en-US" sz="1300" dirty="0"/>
              <a:t> (GPU scheduler)</a:t>
            </a:r>
            <a:r>
              <a:rPr lang="bg-BG" sz="1300" dirty="0"/>
              <a:t> ефективно</a:t>
            </a:r>
            <a:r>
              <a:rPr lang="ru-RU" sz="1300" dirty="0"/>
              <a:t> да регулира разпределението</a:t>
            </a:r>
            <a:r>
              <a:rPr lang="bg-BG" sz="1300" dirty="0"/>
              <a:t> на </a:t>
            </a:r>
            <a:r>
              <a:rPr lang="ru-RU" sz="1300" dirty="0"/>
              <a:t>задачите, осигурявайки висока производителност и безопасни асинхронни изчисления в драйвера.</a:t>
            </a:r>
            <a:endParaRPr lang="en-US" sz="1300" dirty="0"/>
          </a:p>
        </p:txBody>
      </p:sp>
      <p:pic>
        <p:nvPicPr>
          <p:cNvPr id="39" name="Picture 38" descr="A green and white text on a black background">
            <a:extLst>
              <a:ext uri="{FF2B5EF4-FFF2-40B4-BE49-F238E27FC236}">
                <a16:creationId xmlns:a16="http://schemas.microsoft.com/office/drawing/2014/main" id="{767F167F-8C2C-D209-7DDB-DE407F3E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035" y="4452533"/>
            <a:ext cx="3434434" cy="5920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0022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249B-2C58-7E31-4E19-DD693EC9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246;p38">
            <a:extLst>
              <a:ext uri="{FF2B5EF4-FFF2-40B4-BE49-F238E27FC236}">
                <a16:creationId xmlns:a16="http://schemas.microsoft.com/office/drawing/2014/main" id="{9239321E-50D5-2AC2-15FF-91F79E4CC21D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18" name="Google Shape;247;p38">
              <a:extLst>
                <a:ext uri="{FF2B5EF4-FFF2-40B4-BE49-F238E27FC236}">
                  <a16:creationId xmlns:a16="http://schemas.microsoft.com/office/drawing/2014/main" id="{DE8A4BCF-7A5F-8469-C587-D824D356D4B1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9" name="Google Shape;248;p38">
              <a:extLst>
                <a:ext uri="{FF2B5EF4-FFF2-40B4-BE49-F238E27FC236}">
                  <a16:creationId xmlns:a16="http://schemas.microsoft.com/office/drawing/2014/main" id="{47E258A3-5174-DC76-69F6-DE04BA7AC4B6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20" name="Google Shape;249;p38">
              <a:extLst>
                <a:ext uri="{FF2B5EF4-FFF2-40B4-BE49-F238E27FC236}">
                  <a16:creationId xmlns:a16="http://schemas.microsoft.com/office/drawing/2014/main" id="{5616C002-8439-A253-62BA-C9FD629636BA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9F61BCE-C805-4E34-556C-D75248CC976D}"/>
              </a:ext>
            </a:extLst>
          </p:cNvPr>
          <p:cNvSpPr txBox="1">
            <a:spLocks/>
          </p:cNvSpPr>
          <p:nvPr/>
        </p:nvSpPr>
        <p:spPr>
          <a:xfrm>
            <a:off x="884750" y="1370637"/>
            <a:ext cx="7291292" cy="3450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ru-RU" sz="1300" dirty="0"/>
              <a:t>Дизайнът ѝ</a:t>
            </a:r>
            <a:r>
              <a:rPr lang="bg-BG" sz="1300" dirty="0"/>
              <a:t> поддържа</a:t>
            </a:r>
            <a:r>
              <a:rPr lang="ru-RU" sz="1300" dirty="0"/>
              <a:t> до 96 изчислителни</a:t>
            </a:r>
            <a:r>
              <a:rPr lang="bg-BG" sz="1300" dirty="0"/>
              <a:t> блока</a:t>
            </a:r>
            <a:r>
              <a:rPr lang="ru-RU" sz="1300" dirty="0"/>
              <a:t>, което е значително увеличение спрямо 80-те на предиш</a:t>
            </a:r>
            <a:r>
              <a:rPr lang="bg-BG" sz="1300" dirty="0"/>
              <a:t>ната серия</a:t>
            </a:r>
            <a:r>
              <a:rPr lang="ru-RU" sz="1300" dirty="0"/>
              <a:t>.</a:t>
            </a:r>
            <a:endParaRPr lang="en-US" sz="1300" dirty="0"/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sz="1300" dirty="0"/>
              <a:t>Въвежда</a:t>
            </a:r>
            <a:r>
              <a:rPr lang="en-US" sz="1300" dirty="0"/>
              <a:t> ray tracing </a:t>
            </a:r>
            <a:r>
              <a:rPr lang="bg-BG" sz="1300" dirty="0"/>
              <a:t>ускорители, които представляват специализирани хардуерни блокове, проектирани с цел да подобрят</a:t>
            </a:r>
            <a:r>
              <a:rPr lang="en-US" sz="1300" dirty="0"/>
              <a:t> </a:t>
            </a:r>
            <a:r>
              <a:rPr lang="bg-BG" sz="1300" dirty="0"/>
              <a:t>производителността чрез по-ефективна обработка на лъчевите изчисления.</a:t>
            </a:r>
            <a:endParaRPr lang="en-US" sz="1300" dirty="0"/>
          </a:p>
          <a:p>
            <a:pPr marL="24130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sz="1300" dirty="0"/>
              <a:t>Това е първата потребителска серия от графични карти, базирана на чиплетен дизайн</a:t>
            </a:r>
            <a:r>
              <a:rPr lang="en-US" sz="1300" dirty="0"/>
              <a:t> (chiplet). </a:t>
            </a:r>
            <a:r>
              <a:rPr lang="ru-RU" sz="1300" dirty="0"/>
              <a:t>Чиплетът представлява</a:t>
            </a:r>
            <a:r>
              <a:rPr lang="bg-BG" sz="1300" dirty="0"/>
              <a:t> малка</a:t>
            </a:r>
            <a:r>
              <a:rPr lang="ru-RU" sz="1300" dirty="0"/>
              <a:t> интегрална схема, която съдържа добре дефинира</a:t>
            </a:r>
            <a:r>
              <a:rPr lang="bg-BG" sz="1300" dirty="0"/>
              <a:t>но</a:t>
            </a:r>
            <a:r>
              <a:rPr lang="ru-RU" sz="1300" dirty="0"/>
              <a:t> подмножество от функционалност.</a:t>
            </a:r>
            <a:r>
              <a:rPr lang="en-US" sz="1300" dirty="0"/>
              <a:t> </a:t>
            </a:r>
            <a:r>
              <a:rPr lang="ru-RU" sz="1300" dirty="0"/>
              <a:t>Тя е проектирана да се комбинира с други чиплети върху междинен елемент в един корпус, за да се създаде </a:t>
            </a:r>
            <a:r>
              <a:rPr lang="bg-BG" sz="1300" dirty="0"/>
              <a:t>по-</a:t>
            </a:r>
            <a:r>
              <a:rPr lang="ru-RU" sz="1300" dirty="0"/>
              <a:t>сложен компонент</a:t>
            </a:r>
            <a:r>
              <a:rPr lang="en-US" sz="1300" dirty="0"/>
              <a:t> (</a:t>
            </a:r>
            <a:r>
              <a:rPr lang="ru-RU" sz="1300" dirty="0"/>
              <a:t>като</a:t>
            </a:r>
            <a:r>
              <a:rPr lang="bg-BG" sz="1300" dirty="0"/>
              <a:t> процесор или видеокарта</a:t>
            </a:r>
            <a:r>
              <a:rPr lang="en-US" sz="1300" dirty="0"/>
              <a:t>)</a:t>
            </a:r>
            <a:r>
              <a:rPr lang="ru-RU" sz="1300" dirty="0"/>
              <a:t>.</a:t>
            </a:r>
            <a:endParaRPr lang="en-US" sz="1300" dirty="0"/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sz="1300" dirty="0"/>
              <a:t>По-голям размер на кеш паметта.</a:t>
            </a:r>
            <a:endParaRPr lang="en-US" sz="1300" dirty="0"/>
          </a:p>
          <a:p>
            <a:pPr marL="241300" lvl="0" indent="-215900" algn="l">
              <a:spcAft>
                <a:spcPts val="12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bg-BG" sz="1300" dirty="0"/>
              <a:t>До 24</a:t>
            </a:r>
            <a:r>
              <a:rPr lang="en-US" sz="1300" dirty="0"/>
              <a:t>GB GDDR6 VRAM</a:t>
            </a:r>
            <a:r>
              <a:rPr lang="bg-BG" sz="1300" dirty="0"/>
              <a:t> и др.</a:t>
            </a:r>
            <a:endParaRPr lang="en-US" sz="1300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9ABBBCA-9E37-CC3F-D825-C8FB8F371483}"/>
              </a:ext>
            </a:extLst>
          </p:cNvPr>
          <p:cNvSpPr txBox="1">
            <a:spLocks/>
          </p:cNvSpPr>
          <p:nvPr/>
        </p:nvSpPr>
        <p:spPr>
          <a:xfrm>
            <a:off x="1027035" y="431748"/>
            <a:ext cx="7149006" cy="58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bg-BG" sz="278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Особености на серията </a:t>
            </a:r>
            <a:r>
              <a:rPr lang="en-US" sz="278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Radeon RX 7000</a:t>
            </a:r>
            <a:endParaRPr lang="bg-BG" sz="27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5F4BDEB-D2B4-3DD2-AF1D-0E0A6FDF26A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4598" y="3789161"/>
            <a:ext cx="1679950" cy="9700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4096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246;p38">
            <a:extLst>
              <a:ext uri="{FF2B5EF4-FFF2-40B4-BE49-F238E27FC236}">
                <a16:creationId xmlns:a16="http://schemas.microsoft.com/office/drawing/2014/main" id="{46E81E3E-2BAA-8C7D-7397-1708C22370CB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16" name="Google Shape;247;p38">
              <a:extLst>
                <a:ext uri="{FF2B5EF4-FFF2-40B4-BE49-F238E27FC236}">
                  <a16:creationId xmlns:a16="http://schemas.microsoft.com/office/drawing/2014/main" id="{9AB78454-3C6E-B2FE-55BE-19376F9B63B1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7" name="Google Shape;248;p38">
              <a:extLst>
                <a:ext uri="{FF2B5EF4-FFF2-40B4-BE49-F238E27FC236}">
                  <a16:creationId xmlns:a16="http://schemas.microsoft.com/office/drawing/2014/main" id="{7D409FA0-AE88-E36A-7C2A-C3A024AF6E50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8" name="Google Shape;249;p38">
              <a:extLst>
                <a:ext uri="{FF2B5EF4-FFF2-40B4-BE49-F238E27FC236}">
                  <a16:creationId xmlns:a16="http://schemas.microsoft.com/office/drawing/2014/main" id="{C9602398-2180-5015-DE40-D2E5E1DF30A4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8ABEC7BC-7F7E-9D5F-7502-05F4AF9B6CF2}"/>
              </a:ext>
            </a:extLst>
          </p:cNvPr>
          <p:cNvSpPr txBox="1">
            <a:spLocks/>
          </p:cNvSpPr>
          <p:nvPr/>
        </p:nvSpPr>
        <p:spPr>
          <a:xfrm>
            <a:off x="1001609" y="328826"/>
            <a:ext cx="7174432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Benchmarks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FF00B5-9882-031E-D4E4-35FE1B374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97" y="1395838"/>
            <a:ext cx="7714605" cy="307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41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DCD2B-9340-9D95-81BE-31A66EDB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246;p38">
            <a:extLst>
              <a:ext uri="{FF2B5EF4-FFF2-40B4-BE49-F238E27FC236}">
                <a16:creationId xmlns:a16="http://schemas.microsoft.com/office/drawing/2014/main" id="{9B2DBBDA-810B-3D75-0658-D35BECD0D73C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16" name="Google Shape;247;p38">
              <a:extLst>
                <a:ext uri="{FF2B5EF4-FFF2-40B4-BE49-F238E27FC236}">
                  <a16:creationId xmlns:a16="http://schemas.microsoft.com/office/drawing/2014/main" id="{E884FF2A-A88F-5805-966A-91DEA10F2A32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7" name="Google Shape;248;p38">
              <a:extLst>
                <a:ext uri="{FF2B5EF4-FFF2-40B4-BE49-F238E27FC236}">
                  <a16:creationId xmlns:a16="http://schemas.microsoft.com/office/drawing/2014/main" id="{9F56044E-941D-09A4-270A-4820DED78474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8" name="Google Shape;249;p38">
              <a:extLst>
                <a:ext uri="{FF2B5EF4-FFF2-40B4-BE49-F238E27FC236}">
                  <a16:creationId xmlns:a16="http://schemas.microsoft.com/office/drawing/2014/main" id="{D770B73F-CF5C-F469-ADB0-836D8F1DFD19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575DF6F9-0931-422C-D453-DC73AE7759E4}"/>
              </a:ext>
            </a:extLst>
          </p:cNvPr>
          <p:cNvSpPr txBox="1">
            <a:spLocks/>
          </p:cNvSpPr>
          <p:nvPr/>
        </p:nvSpPr>
        <p:spPr>
          <a:xfrm>
            <a:off x="1001609" y="328826"/>
            <a:ext cx="7174432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Benchmarks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FA9CA3-BE26-C382-7107-D8A02D375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318" y="1254970"/>
            <a:ext cx="4749364" cy="346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09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70A6-0DA9-C893-87D1-09B1668EE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246;p38">
            <a:extLst>
              <a:ext uri="{FF2B5EF4-FFF2-40B4-BE49-F238E27FC236}">
                <a16:creationId xmlns:a16="http://schemas.microsoft.com/office/drawing/2014/main" id="{F14A949D-94CC-5AC9-AAE8-D9FE6FE15964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16" name="Google Shape;247;p38">
              <a:extLst>
                <a:ext uri="{FF2B5EF4-FFF2-40B4-BE49-F238E27FC236}">
                  <a16:creationId xmlns:a16="http://schemas.microsoft.com/office/drawing/2014/main" id="{53460A03-B34A-5626-B1F3-F23F25D21E66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7" name="Google Shape;248;p38">
              <a:extLst>
                <a:ext uri="{FF2B5EF4-FFF2-40B4-BE49-F238E27FC236}">
                  <a16:creationId xmlns:a16="http://schemas.microsoft.com/office/drawing/2014/main" id="{B9B5B444-FEC9-DDA3-5DF6-79DCC582BC3E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8" name="Google Shape;249;p38">
              <a:extLst>
                <a:ext uri="{FF2B5EF4-FFF2-40B4-BE49-F238E27FC236}">
                  <a16:creationId xmlns:a16="http://schemas.microsoft.com/office/drawing/2014/main" id="{53438059-288F-6C1B-2E64-CE3B86FAB383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664D04EB-234F-1123-6D99-BF57215B451B}"/>
              </a:ext>
            </a:extLst>
          </p:cNvPr>
          <p:cNvSpPr txBox="1">
            <a:spLocks/>
          </p:cNvSpPr>
          <p:nvPr/>
        </p:nvSpPr>
        <p:spPr>
          <a:xfrm>
            <a:off x="1001609" y="328826"/>
            <a:ext cx="7174432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Benchmarks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71827-68AD-70EF-ACCD-C271B97C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27" y="1315930"/>
            <a:ext cx="6448396" cy="337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05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F8E19-A4F0-7112-A5BB-8F53C8EF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246;p38">
            <a:extLst>
              <a:ext uri="{FF2B5EF4-FFF2-40B4-BE49-F238E27FC236}">
                <a16:creationId xmlns:a16="http://schemas.microsoft.com/office/drawing/2014/main" id="{6BA503E7-467D-9432-B481-7ED856ED9DD5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16" name="Google Shape;247;p38">
              <a:extLst>
                <a:ext uri="{FF2B5EF4-FFF2-40B4-BE49-F238E27FC236}">
                  <a16:creationId xmlns:a16="http://schemas.microsoft.com/office/drawing/2014/main" id="{BF9D1D9F-1AFD-8E7F-7F76-8463289745D4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7" name="Google Shape;248;p38">
              <a:extLst>
                <a:ext uri="{FF2B5EF4-FFF2-40B4-BE49-F238E27FC236}">
                  <a16:creationId xmlns:a16="http://schemas.microsoft.com/office/drawing/2014/main" id="{8537C497-DD34-98D9-E702-AD07232AEA16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8" name="Google Shape;249;p38">
              <a:extLst>
                <a:ext uri="{FF2B5EF4-FFF2-40B4-BE49-F238E27FC236}">
                  <a16:creationId xmlns:a16="http://schemas.microsoft.com/office/drawing/2014/main" id="{F1B711F0-F567-EB82-7ADB-3EE910B6461F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9B622CDB-0532-0853-D850-C8B905BB3EE2}"/>
              </a:ext>
            </a:extLst>
          </p:cNvPr>
          <p:cNvSpPr txBox="1">
            <a:spLocks/>
          </p:cNvSpPr>
          <p:nvPr/>
        </p:nvSpPr>
        <p:spPr>
          <a:xfrm>
            <a:off x="1001609" y="328826"/>
            <a:ext cx="7174432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Benchmarks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059642-16C6-9C21-6B05-A0D23E102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890" y="1465239"/>
            <a:ext cx="3971595" cy="270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5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E40C-BDA1-4543-5357-25CAC9302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246;p38">
            <a:extLst>
              <a:ext uri="{FF2B5EF4-FFF2-40B4-BE49-F238E27FC236}">
                <a16:creationId xmlns:a16="http://schemas.microsoft.com/office/drawing/2014/main" id="{EED5A2B0-1FE5-D037-267A-8378B5DAB078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16" name="Google Shape;247;p38">
              <a:extLst>
                <a:ext uri="{FF2B5EF4-FFF2-40B4-BE49-F238E27FC236}">
                  <a16:creationId xmlns:a16="http://schemas.microsoft.com/office/drawing/2014/main" id="{A8B012CC-3EB3-12F1-17C1-16E36177B2E3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7" name="Google Shape;248;p38">
              <a:extLst>
                <a:ext uri="{FF2B5EF4-FFF2-40B4-BE49-F238E27FC236}">
                  <a16:creationId xmlns:a16="http://schemas.microsoft.com/office/drawing/2014/main" id="{54255A50-ABF0-AB25-5E80-B7425715CB81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8" name="Google Shape;249;p38">
              <a:extLst>
                <a:ext uri="{FF2B5EF4-FFF2-40B4-BE49-F238E27FC236}">
                  <a16:creationId xmlns:a16="http://schemas.microsoft.com/office/drawing/2014/main" id="{617F5D56-2B4F-1CED-0696-657AF4A6D59A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C0A9559D-FC43-783A-D336-82EE0D8413DC}"/>
              </a:ext>
            </a:extLst>
          </p:cNvPr>
          <p:cNvSpPr txBox="1">
            <a:spLocks/>
          </p:cNvSpPr>
          <p:nvPr/>
        </p:nvSpPr>
        <p:spPr>
          <a:xfrm>
            <a:off x="1001609" y="328826"/>
            <a:ext cx="7174432" cy="68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pline Sans Mono Medium"/>
              <a:buNone/>
              <a:defRPr sz="32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Benchmarks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EF144-C12A-28A3-28FF-7077CDE22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92" y="1424334"/>
            <a:ext cx="7377150" cy="3201853"/>
          </a:xfrm>
          <a:prstGeom prst="rect">
            <a:avLst/>
          </a:prstGeom>
        </p:spPr>
      </p:pic>
      <p:sp>
        <p:nvSpPr>
          <p:cNvPr id="6" name="Google Shape;211;p36">
            <a:extLst>
              <a:ext uri="{FF2B5EF4-FFF2-40B4-BE49-F238E27FC236}">
                <a16:creationId xmlns:a16="http://schemas.microsoft.com/office/drawing/2014/main" id="{B05845B9-3A4E-25E0-76C6-ABF5DA7E92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32813" y="1717595"/>
            <a:ext cx="981289" cy="3279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RX 7600</a:t>
            </a:r>
            <a:endParaRPr lang="bg-BG" sz="1600" b="1" dirty="0">
              <a:solidFill>
                <a:srgbClr val="000000"/>
              </a:solidFill>
            </a:endParaRPr>
          </a:p>
        </p:txBody>
      </p:sp>
      <p:sp>
        <p:nvSpPr>
          <p:cNvPr id="7" name="Google Shape;211;p36">
            <a:extLst>
              <a:ext uri="{FF2B5EF4-FFF2-40B4-BE49-F238E27FC236}">
                <a16:creationId xmlns:a16="http://schemas.microsoft.com/office/drawing/2014/main" id="{67F8FC2E-B183-AEA6-666D-33AACB29CE42}"/>
              </a:ext>
            </a:extLst>
          </p:cNvPr>
          <p:cNvSpPr txBox="1">
            <a:spLocks/>
          </p:cNvSpPr>
          <p:nvPr/>
        </p:nvSpPr>
        <p:spPr>
          <a:xfrm>
            <a:off x="6167722" y="1717595"/>
            <a:ext cx="1154251" cy="32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GTX 1050</a:t>
            </a:r>
            <a:endParaRPr lang="bg-BG" sz="1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430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9C5F90C-B887-F5EB-3DC5-504B4F771666}"/>
              </a:ext>
            </a:extLst>
          </p:cNvPr>
          <p:cNvSpPr txBox="1">
            <a:spLocks/>
          </p:cNvSpPr>
          <p:nvPr/>
        </p:nvSpPr>
        <p:spPr>
          <a:xfrm>
            <a:off x="967960" y="1215763"/>
            <a:ext cx="7208080" cy="3423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241300" lvl="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US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TDP (Thermal Design Power)</a:t>
            </a:r>
            <a:r>
              <a:rPr lang="bg-BG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1000" dirty="0">
                <a:solidFill>
                  <a:srgbClr val="FFFFFF"/>
                </a:solidFill>
              </a:rPr>
              <a:t>– </a:t>
            </a:r>
            <a:r>
              <a:rPr lang="ru-RU" sz="1000" dirty="0">
                <a:solidFill>
                  <a:srgbClr val="FFFFFF"/>
                </a:solidFill>
              </a:rPr>
              <a:t>максималното количество топлин</a:t>
            </a:r>
            <a:r>
              <a:rPr lang="bg-BG" sz="1000" dirty="0">
                <a:solidFill>
                  <a:srgbClr val="FFFFFF"/>
                </a:solidFill>
              </a:rPr>
              <a:t>на мощност</a:t>
            </a:r>
            <a:r>
              <a:rPr lang="ru-RU" sz="1000" dirty="0">
                <a:solidFill>
                  <a:srgbClr val="FFFFFF"/>
                </a:solidFill>
              </a:rPr>
              <a:t>, което компютърен компонент може да генерира при големи натоварвания.</a:t>
            </a:r>
            <a:endParaRPr lang="en-US" sz="1000" dirty="0">
              <a:solidFill>
                <a:srgbClr val="FFFFFF"/>
              </a:solidFill>
            </a:endParaRPr>
          </a:p>
          <a:p>
            <a:pPr marL="241300" lvl="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US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HDR (High Dynamic Range) </a:t>
            </a:r>
            <a:r>
              <a:rPr lang="bg-BG" sz="1000" dirty="0">
                <a:solidFill>
                  <a:schemeClr val="tx1"/>
                </a:solidFill>
              </a:rPr>
              <a:t>– </a:t>
            </a:r>
            <a:r>
              <a:rPr lang="ru-RU" sz="1000" dirty="0">
                <a:solidFill>
                  <a:schemeClr val="tx1"/>
                </a:solidFill>
              </a:rPr>
              <a:t>технология, която позволява да се визуализира по-широк диапазон на яркост </a:t>
            </a:r>
            <a:r>
              <a:rPr lang="en-US" sz="1000" dirty="0">
                <a:solidFill>
                  <a:schemeClr val="tx1"/>
                </a:solidFill>
              </a:rPr>
              <a:t>(</a:t>
            </a:r>
            <a:r>
              <a:rPr lang="ru-RU" sz="1000" dirty="0">
                <a:solidFill>
                  <a:schemeClr val="tx1"/>
                </a:solidFill>
              </a:rPr>
              <a:t>от най-тъмните сенки до най-ярките обекти</a:t>
            </a:r>
            <a:r>
              <a:rPr lang="en-US" sz="1000" dirty="0">
                <a:solidFill>
                  <a:schemeClr val="tx1"/>
                </a:solidFill>
              </a:rPr>
              <a:t>).</a:t>
            </a:r>
            <a:endParaRPr lang="en-US" sz="1000" b="1" dirty="0">
              <a:solidFill>
                <a:srgbClr val="FFC000"/>
              </a:solidFill>
            </a:endParaRPr>
          </a:p>
          <a:p>
            <a:pPr marL="241300" lvl="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US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PSU (Power Supply Unit) </a:t>
            </a:r>
            <a:r>
              <a:rPr lang="bg-BG" sz="1000" dirty="0">
                <a:solidFill>
                  <a:schemeClr val="tx1"/>
                </a:solidFill>
              </a:rPr>
              <a:t>– </a:t>
            </a:r>
            <a:r>
              <a:rPr lang="ru-RU" sz="1000" dirty="0">
                <a:solidFill>
                  <a:schemeClr val="tx1"/>
                </a:solidFill>
              </a:rPr>
              <a:t>основният източник на захранване за всички компоненти</a:t>
            </a:r>
            <a:r>
              <a:rPr lang="bg-BG" sz="1000" dirty="0">
                <a:solidFill>
                  <a:schemeClr val="tx1"/>
                </a:solidFill>
              </a:rPr>
              <a:t> в</a:t>
            </a:r>
            <a:r>
              <a:rPr lang="ru-RU" sz="1000" dirty="0">
                <a:solidFill>
                  <a:schemeClr val="tx1"/>
                </a:solidFill>
              </a:rPr>
              <a:t> компютъра.</a:t>
            </a:r>
            <a:endParaRPr lang="en-US" sz="1000" b="1" dirty="0">
              <a:solidFill>
                <a:srgbClr val="FFC000"/>
              </a:solidFill>
            </a:endParaRPr>
          </a:p>
          <a:p>
            <a:pPr marL="241300" lvl="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GB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 (Application Programming Interface)</a:t>
            </a:r>
            <a:r>
              <a:rPr lang="bg-BG" sz="1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1000" dirty="0">
                <a:solidFill>
                  <a:schemeClr val="tx1"/>
                </a:solidFill>
              </a:rPr>
              <a:t>–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ru-RU" sz="1000" dirty="0">
                <a:solidFill>
                  <a:schemeClr val="tx1"/>
                </a:solidFill>
              </a:rPr>
              <a:t>набор от правила и протоколи, които позволяват на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ru-RU" sz="1000" dirty="0">
                <a:solidFill>
                  <a:schemeClr val="tx1"/>
                </a:solidFill>
              </a:rPr>
              <a:t>приложения</a:t>
            </a:r>
            <a:r>
              <a:rPr lang="bg-BG" sz="1000" dirty="0">
                <a:solidFill>
                  <a:schemeClr val="tx1"/>
                </a:solidFill>
              </a:rPr>
              <a:t>та</a:t>
            </a:r>
            <a:r>
              <a:rPr lang="ru-RU" sz="1000" dirty="0">
                <a:solidFill>
                  <a:schemeClr val="tx1"/>
                </a:solidFill>
              </a:rPr>
              <a:t> да комуникират помежду си, за да обменят данни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</a:p>
          <a:p>
            <a:pPr marL="24130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GB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DLSS (Deep Learning Super Sampling)</a:t>
            </a:r>
            <a:r>
              <a:rPr lang="bg-BG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1000" dirty="0">
                <a:solidFill>
                  <a:schemeClr val="tx1"/>
                </a:solidFill>
              </a:rPr>
              <a:t>– </a:t>
            </a:r>
            <a:r>
              <a:rPr lang="ru-RU" sz="1000" dirty="0">
                <a:solidFill>
                  <a:schemeClr val="tx1"/>
                </a:solidFill>
              </a:rPr>
              <a:t>множество графични технологии, задвижвани от изкуствен интелект</a:t>
            </a:r>
            <a:r>
              <a:rPr lang="bg-BG" sz="1000" dirty="0">
                <a:solidFill>
                  <a:schemeClr val="tx1"/>
                </a:solidFill>
              </a:rPr>
              <a:t> и </a:t>
            </a:r>
            <a:r>
              <a:rPr lang="ru-RU" sz="1000" dirty="0">
                <a:solidFill>
                  <a:schemeClr val="tx1"/>
                </a:solidFill>
              </a:rPr>
              <a:t>разработени от</a:t>
            </a:r>
            <a:r>
              <a:rPr lang="en-US" sz="1000" dirty="0">
                <a:solidFill>
                  <a:schemeClr val="tx1"/>
                </a:solidFill>
              </a:rPr>
              <a:t> NVIDIA</a:t>
            </a:r>
            <a:r>
              <a:rPr lang="ru-RU" sz="1000" dirty="0">
                <a:solidFill>
                  <a:schemeClr val="tx1"/>
                </a:solidFill>
              </a:rPr>
              <a:t>, които използват</a:t>
            </a:r>
            <a:r>
              <a:rPr lang="bg-BG" sz="1000" dirty="0">
                <a:solidFill>
                  <a:schemeClr val="tx1"/>
                </a:solidFill>
              </a:rPr>
              <a:t> алгоритми за</a:t>
            </a:r>
            <a:r>
              <a:rPr lang="ru-RU" sz="1000" dirty="0">
                <a:solidFill>
                  <a:schemeClr val="tx1"/>
                </a:solidFill>
              </a:rPr>
              <a:t> дълбоко обучение</a:t>
            </a:r>
            <a:r>
              <a:rPr lang="bg-BG" sz="1000" dirty="0">
                <a:solidFill>
                  <a:schemeClr val="tx1"/>
                </a:solidFill>
              </a:rPr>
              <a:t>, за да подобрят</a:t>
            </a:r>
            <a:r>
              <a:rPr lang="ru-RU" sz="1000" dirty="0">
                <a:solidFill>
                  <a:schemeClr val="tx1"/>
                </a:solidFill>
              </a:rPr>
              <a:t> производителността и графиките в игрите.</a:t>
            </a:r>
            <a:endParaRPr lang="en-GB" sz="1000" b="1" dirty="0">
              <a:solidFill>
                <a:srgbClr val="FFC000"/>
              </a:solidFill>
            </a:endParaRPr>
          </a:p>
          <a:p>
            <a:pPr marL="241300" lvl="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GB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FSR (FidelityFX Super Resolution)</a:t>
            </a:r>
            <a:r>
              <a:rPr lang="bg-BG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1000" dirty="0">
                <a:solidFill>
                  <a:schemeClr val="tx1"/>
                </a:solidFill>
              </a:rPr>
              <a:t>– </a:t>
            </a:r>
            <a:r>
              <a:rPr lang="ru-RU" sz="1000" dirty="0">
                <a:solidFill>
                  <a:schemeClr val="tx1"/>
                </a:solidFill>
              </a:rPr>
              <a:t>технология, разработена от AMD, която рендира игрите с по-ниска резолюция и след това ги мащабира до нормалната резолюция на монитора, като по този начин подобрява производителността и същевременно запазва добро качество на изображението.</a:t>
            </a:r>
            <a:endParaRPr lang="en-GB" sz="1000" b="1" dirty="0">
              <a:solidFill>
                <a:srgbClr val="FFC000"/>
              </a:solidFill>
            </a:endParaRPr>
          </a:p>
          <a:p>
            <a:pPr marL="241300" lvl="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GB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RSR (Radeon Super Resolution) </a:t>
            </a:r>
            <a:r>
              <a:rPr lang="bg-BG" sz="1000" dirty="0">
                <a:solidFill>
                  <a:schemeClr val="tx1"/>
                </a:solidFill>
              </a:rPr>
              <a:t>– използва същия алгоритъм като </a:t>
            </a:r>
            <a:r>
              <a:rPr lang="en-US" sz="1000" dirty="0">
                <a:solidFill>
                  <a:schemeClr val="tx1"/>
                </a:solidFill>
              </a:rPr>
              <a:t>FSR</a:t>
            </a:r>
            <a:r>
              <a:rPr lang="bg-BG" sz="1000" dirty="0">
                <a:solidFill>
                  <a:schemeClr val="tx1"/>
                </a:solidFill>
              </a:rPr>
              <a:t>, но работи на ниво драйвер, което я прави съвместима с хиляди други игри, които не поддържат </a:t>
            </a:r>
            <a:r>
              <a:rPr lang="en-US" sz="1000" dirty="0">
                <a:solidFill>
                  <a:schemeClr val="tx1"/>
                </a:solidFill>
              </a:rPr>
              <a:t>FSR.</a:t>
            </a:r>
          </a:p>
          <a:p>
            <a:pPr marL="24130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GB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VRAM (Video Random Access Memory)</a:t>
            </a:r>
            <a:r>
              <a:rPr lang="bg-BG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1000" dirty="0">
                <a:solidFill>
                  <a:schemeClr val="tx1"/>
                </a:solidFill>
              </a:rPr>
              <a:t>–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ru-RU" sz="1000" dirty="0">
                <a:solidFill>
                  <a:schemeClr val="tx1"/>
                </a:solidFill>
              </a:rPr>
              <a:t>високоскоростна памет, предназначена за съхранение на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ru-RU" sz="1000" dirty="0">
                <a:solidFill>
                  <a:schemeClr val="tx1"/>
                </a:solidFill>
              </a:rPr>
              <a:t>графич</a:t>
            </a:r>
            <a:r>
              <a:rPr lang="bg-BG" sz="1000" dirty="0">
                <a:solidFill>
                  <a:schemeClr val="tx1"/>
                </a:solidFill>
              </a:rPr>
              <a:t>на</a:t>
            </a:r>
            <a:r>
              <a:rPr lang="ru-RU" sz="1000" dirty="0">
                <a:solidFill>
                  <a:schemeClr val="tx1"/>
                </a:solidFill>
              </a:rPr>
              <a:t>та информаци</a:t>
            </a:r>
            <a:r>
              <a:rPr lang="bg-BG" sz="1000" dirty="0">
                <a:solidFill>
                  <a:schemeClr val="tx1"/>
                </a:solidFill>
              </a:rPr>
              <a:t>я, която се изобразява на монитора.</a:t>
            </a:r>
            <a:endParaRPr lang="en-GB" sz="1000" b="1" dirty="0">
              <a:solidFill>
                <a:srgbClr val="FFC000"/>
              </a:solidFill>
            </a:endParaRPr>
          </a:p>
          <a:p>
            <a:pPr marL="241300" lvl="0" indent="-215900" algn="l">
              <a:spcAft>
                <a:spcPts val="600"/>
              </a:spcAft>
              <a:buClr>
                <a:srgbClr val="FFFFFF"/>
              </a:buClr>
              <a:buFont typeface="Arimo"/>
              <a:buChar char="●"/>
              <a:defRPr/>
            </a:pPr>
            <a:r>
              <a:rPr lang="en-GB" sz="1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Bandwidth</a:t>
            </a:r>
            <a:r>
              <a:rPr lang="bg-BG" sz="1000" b="1" dirty="0">
                <a:solidFill>
                  <a:srgbClr val="FFC000"/>
                </a:solidFill>
              </a:rPr>
              <a:t> </a:t>
            </a:r>
            <a:r>
              <a:rPr lang="bg-BG" sz="1000" dirty="0">
                <a:solidFill>
                  <a:schemeClr val="tx1"/>
                </a:solidFill>
              </a:rPr>
              <a:t>– скоростта, с която се извършва преносът на данни между </a:t>
            </a:r>
            <a:r>
              <a:rPr lang="en-US" sz="1000" dirty="0">
                <a:solidFill>
                  <a:schemeClr val="tx1"/>
                </a:solidFill>
              </a:rPr>
              <a:t>GPU</a:t>
            </a:r>
            <a:r>
              <a:rPr lang="bg-BG" sz="1000" dirty="0">
                <a:solidFill>
                  <a:schemeClr val="tx1"/>
                </a:solidFill>
              </a:rPr>
              <a:t> и </a:t>
            </a:r>
            <a:r>
              <a:rPr lang="en-US" sz="1000" dirty="0">
                <a:solidFill>
                  <a:schemeClr val="tx1"/>
                </a:solidFill>
              </a:rPr>
              <a:t>VRAM.</a:t>
            </a:r>
            <a:endParaRPr lang="en-GB" sz="1000" b="1" dirty="0">
              <a:solidFill>
                <a:srgbClr val="FFC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775BB-EA4E-A3B4-95E1-2E1E84663F2E}"/>
              </a:ext>
            </a:extLst>
          </p:cNvPr>
          <p:cNvSpPr txBox="1">
            <a:spLocks/>
          </p:cNvSpPr>
          <p:nvPr/>
        </p:nvSpPr>
        <p:spPr>
          <a:xfrm>
            <a:off x="1012887" y="450343"/>
            <a:ext cx="7163153" cy="669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line Sans Mono Medium"/>
              <a:buNone/>
              <a:defRPr sz="49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bg-BG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Технически речник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oogle Shape;246;p38">
            <a:extLst>
              <a:ext uri="{FF2B5EF4-FFF2-40B4-BE49-F238E27FC236}">
                <a16:creationId xmlns:a16="http://schemas.microsoft.com/office/drawing/2014/main" id="{F5A06233-6A6C-FDE8-2712-4FA45E9510D7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4" name="Google Shape;247;p38">
              <a:extLst>
                <a:ext uri="{FF2B5EF4-FFF2-40B4-BE49-F238E27FC236}">
                  <a16:creationId xmlns:a16="http://schemas.microsoft.com/office/drawing/2014/main" id="{47C6B2C8-D173-81DB-75FD-1C9F2F26F8A2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5" name="Google Shape;248;p38">
              <a:extLst>
                <a:ext uri="{FF2B5EF4-FFF2-40B4-BE49-F238E27FC236}">
                  <a16:creationId xmlns:a16="http://schemas.microsoft.com/office/drawing/2014/main" id="{16A1BDEE-B9DD-A67B-3C51-7C7B72168AFA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6" name="Google Shape;249;p38">
              <a:extLst>
                <a:ext uri="{FF2B5EF4-FFF2-40B4-BE49-F238E27FC236}">
                  <a16:creationId xmlns:a16="http://schemas.microsoft.com/office/drawing/2014/main" id="{D53F15BA-FE53-B32F-0817-8D6812B82CD3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1782255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3FBF0E4A-7253-EBE7-B50A-EEC32AC8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F5E3802-30F6-C921-8CB8-1259D82CD07B}"/>
              </a:ext>
            </a:extLst>
          </p:cNvPr>
          <p:cNvSpPr txBox="1">
            <a:spLocks/>
          </p:cNvSpPr>
          <p:nvPr/>
        </p:nvSpPr>
        <p:spPr>
          <a:xfrm>
            <a:off x="1012887" y="450343"/>
            <a:ext cx="7163153" cy="669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line Sans Mono Medium"/>
              <a:buNone/>
              <a:defRPr sz="4900" b="0" i="0" u="none" strike="noStrike" cap="none">
                <a:solidFill>
                  <a:schemeClr val="dk1"/>
                </a:solidFill>
                <a:latin typeface="Spline Sans Mono Medium"/>
                <a:ea typeface="Spline Sans Mono Medium"/>
                <a:cs typeface="Spline Sans Mono Medium"/>
                <a:sym typeface="Spline Sans Mon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bg-BG" sz="3500" b="1" dirty="0">
                <a:solidFill>
                  <a:srgbClr val="DA7E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Използвани източници</a:t>
            </a:r>
            <a:endParaRPr lang="bg-BG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oogle Shape;246;p38">
            <a:extLst>
              <a:ext uri="{FF2B5EF4-FFF2-40B4-BE49-F238E27FC236}">
                <a16:creationId xmlns:a16="http://schemas.microsoft.com/office/drawing/2014/main" id="{10FC6432-8624-881A-8C9D-9F2CD7B5F38A}"/>
              </a:ext>
            </a:extLst>
          </p:cNvPr>
          <p:cNvGrpSpPr/>
          <p:nvPr/>
        </p:nvGrpSpPr>
        <p:grpSpPr>
          <a:xfrm>
            <a:off x="472041" y="901528"/>
            <a:ext cx="7704000" cy="232393"/>
            <a:chOff x="763125" y="3325025"/>
            <a:chExt cx="7187700" cy="331800"/>
          </a:xfrm>
        </p:grpSpPr>
        <p:cxnSp>
          <p:nvCxnSpPr>
            <p:cNvPr id="8" name="Google Shape;247;p38">
              <a:extLst>
                <a:ext uri="{FF2B5EF4-FFF2-40B4-BE49-F238E27FC236}">
                  <a16:creationId xmlns:a16="http://schemas.microsoft.com/office/drawing/2014/main" id="{06D39EFD-CA94-036D-1896-B2350FCAB130}"/>
                </a:ext>
              </a:extLst>
            </p:cNvPr>
            <p:cNvCxnSpPr/>
            <p:nvPr/>
          </p:nvCxnSpPr>
          <p:spPr>
            <a:xfrm>
              <a:off x="1015425" y="3325025"/>
              <a:ext cx="265500" cy="331800"/>
            </a:xfrm>
            <a:prstGeom prst="straightConnector1">
              <a:avLst/>
            </a:prstGeom>
            <a:noFill/>
            <a:ln w="9525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9" name="Google Shape;248;p38">
              <a:extLst>
                <a:ext uri="{FF2B5EF4-FFF2-40B4-BE49-F238E27FC236}">
                  <a16:creationId xmlns:a16="http://schemas.microsoft.com/office/drawing/2014/main" id="{7F6F6FB8-861F-5B16-03DD-C906B2608119}"/>
                </a:ext>
              </a:extLst>
            </p:cNvPr>
            <p:cNvCxnSpPr/>
            <p:nvPr/>
          </p:nvCxnSpPr>
          <p:spPr>
            <a:xfrm rot="10800000">
              <a:off x="763125" y="3325025"/>
              <a:ext cx="2523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  <p:cxnSp>
          <p:nvCxnSpPr>
            <p:cNvPr id="10" name="Google Shape;249;p38">
              <a:extLst>
                <a:ext uri="{FF2B5EF4-FFF2-40B4-BE49-F238E27FC236}">
                  <a16:creationId xmlns:a16="http://schemas.microsoft.com/office/drawing/2014/main" id="{FAE2E4AA-6F5E-3382-9435-D473A18E364C}"/>
                </a:ext>
              </a:extLst>
            </p:cNvPr>
            <p:cNvCxnSpPr/>
            <p:nvPr/>
          </p:nvCxnSpPr>
          <p:spPr>
            <a:xfrm>
              <a:off x="1280925" y="3656825"/>
              <a:ext cx="6669900" cy="0"/>
            </a:xfrm>
            <a:prstGeom prst="straightConnector1">
              <a:avLst/>
            </a:prstGeom>
            <a:noFill/>
            <a:ln w="9525" cap="rnd" cmpd="sng">
              <a:solidFill>
                <a:srgbClr val="00FFFF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57150" dist="9525" dir="3780000" algn="bl" rotWithShape="0">
                <a:schemeClr val="dk1">
                  <a:alpha val="75000"/>
                </a:schemeClr>
              </a:outerShdw>
            </a:effectLst>
          </p:spPr>
        </p:cxnSp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8856C5-AC3A-4AAD-0BC6-1421DF01AAFD}"/>
              </a:ext>
            </a:extLst>
          </p:cNvPr>
          <p:cNvSpPr txBox="1">
            <a:spLocks/>
          </p:cNvSpPr>
          <p:nvPr/>
        </p:nvSpPr>
        <p:spPr>
          <a:xfrm>
            <a:off x="967959" y="1248718"/>
            <a:ext cx="3368949" cy="326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/>
              <a:defRPr/>
            </a:pPr>
            <a:r>
              <a:rPr lang="en-US" sz="1300" dirty="0">
                <a:hlinkClick r:id="rId3"/>
              </a:rPr>
              <a:t>NVIDIA GeForce GTX 1050 Specs | www.techpowerup.com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/>
              <a:defRPr/>
            </a:pPr>
            <a:r>
              <a:rPr lang="en-US" sz="1300" dirty="0">
                <a:hlinkClick r:id="rId4"/>
              </a:rPr>
              <a:t>AMD Radeon RX 7600 Specs | www.techpowerup.com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/>
              <a:defRPr/>
            </a:pPr>
            <a:r>
              <a:rPr lang="pt-BR" sz="1300" dirty="0">
                <a:hlinkClick r:id="rId5"/>
              </a:rPr>
              <a:t>NVIDIA GP107 Specs | www.techpowerup.com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/>
              <a:defRPr/>
            </a:pPr>
            <a:r>
              <a:rPr lang="en-US" sz="1300" dirty="0">
                <a:hlinkClick r:id="rId6"/>
              </a:rPr>
              <a:t>AMD Navi 33 Specs | www.techpowerup.com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/>
              <a:defRPr/>
            </a:pPr>
            <a:r>
              <a:rPr lang="en-US" sz="1300" dirty="0">
                <a:hlinkClick r:id="rId7"/>
              </a:rPr>
              <a:t>Radeon RX 7600 | www.amd.com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/>
              <a:defRPr/>
            </a:pPr>
            <a:r>
              <a:rPr lang="en-US" sz="1300" dirty="0">
                <a:hlinkClick r:id="rId8"/>
              </a:rPr>
              <a:t>Pascal (microarchitecture) | en.wikipedia.org</a:t>
            </a:r>
            <a:endParaRPr lang="en-US" sz="13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65C75B7-EA20-9652-CE63-26DEFD4AF332}"/>
              </a:ext>
            </a:extLst>
          </p:cNvPr>
          <p:cNvSpPr txBox="1">
            <a:spLocks/>
          </p:cNvSpPr>
          <p:nvPr/>
        </p:nvSpPr>
        <p:spPr>
          <a:xfrm>
            <a:off x="4807092" y="1248718"/>
            <a:ext cx="3368949" cy="326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 startAt="7"/>
              <a:defRPr/>
            </a:pPr>
            <a:r>
              <a:rPr lang="en-US" sz="1300" dirty="0">
                <a:hlinkClick r:id="rId9"/>
              </a:rPr>
              <a:t>RDNA (microarchitecture) | en.wikipedia.org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 startAt="7"/>
              <a:defRPr/>
            </a:pPr>
            <a:r>
              <a:rPr lang="en-US" sz="1300" dirty="0">
                <a:hlinkClick r:id="rId10"/>
              </a:rPr>
              <a:t>GeForce 10 Series | www.nvidia.com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 startAt="7"/>
              <a:defRPr/>
            </a:pPr>
            <a:r>
              <a:rPr lang="en-US" sz="1300" dirty="0">
                <a:hlinkClick r:id="rId11"/>
              </a:rPr>
              <a:t>Radeon RX 7000 Series | www.amd.com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 startAt="7"/>
              <a:defRPr/>
            </a:pPr>
            <a:r>
              <a:rPr lang="en-US" sz="1300" dirty="0">
                <a:hlinkClick r:id="rId12"/>
              </a:rPr>
              <a:t>GTX 1050 vs RX 7600 (Benchmark 1) | technical.city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 startAt="7"/>
              <a:defRPr/>
            </a:pPr>
            <a:r>
              <a:rPr lang="en-US" sz="1300" dirty="0">
                <a:hlinkClick r:id="rId13"/>
              </a:rPr>
              <a:t>GTX 1050 vs RX 7600 (Benchmark 2) | gpu.userbenchmark.com</a:t>
            </a:r>
            <a:endParaRPr lang="en-US" sz="1300" dirty="0"/>
          </a:p>
          <a:p>
            <a:pPr marL="368300" lvl="0" indent="-342900" algn="l">
              <a:spcAft>
                <a:spcPts val="1200"/>
              </a:spcAft>
              <a:buClr>
                <a:srgbClr val="FFFFFF"/>
              </a:buClr>
              <a:buFont typeface="+mj-lt"/>
              <a:buAutoNum type="arabicPeriod" startAt="7"/>
              <a:defRPr/>
            </a:pPr>
            <a:r>
              <a:rPr lang="en-US" sz="1300" dirty="0">
                <a:hlinkClick r:id="rId14"/>
              </a:rPr>
              <a:t>GTX 1050 vs RX 7600 (Benchmark 3) | www.topcpu.net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04062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fessional Technology Style by Slidesgo">
  <a:themeElements>
    <a:clrScheme name="Simple Light">
      <a:dk1>
        <a:srgbClr val="FFFFFF"/>
      </a:dk1>
      <a:lt1>
        <a:srgbClr val="001976"/>
      </a:lt1>
      <a:dk2>
        <a:srgbClr val="DA7EE9"/>
      </a:dk2>
      <a:lt2>
        <a:srgbClr val="00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3156</TotalTime>
  <Words>1472</Words>
  <Application>Microsoft Office PowerPoint</Application>
  <PresentationFormat>On-screen Show (16:9)</PresentationFormat>
  <Paragraphs>162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Spline Sans Mono Medium</vt:lpstr>
      <vt:lpstr>Consolas</vt:lpstr>
      <vt:lpstr>Arimo</vt:lpstr>
      <vt:lpstr>Arial</vt:lpstr>
      <vt:lpstr>Bebas Neue</vt:lpstr>
      <vt:lpstr>Professional Technology Style by Slidesgo</vt:lpstr>
      <vt:lpstr>Сравнителен анализ между графичните карти: NVIDIA GeForce GTX 1050 VS AMD Radeon RX 7600</vt:lpstr>
      <vt:lpstr>Въведение</vt:lpstr>
      <vt:lpstr>Графичен процесор GP107</vt:lpstr>
      <vt:lpstr>Графичен процесор Navi 33</vt:lpstr>
      <vt:lpstr>GP107 VS Navi 33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Особености на серията GeForce GTX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Assoc. Prof. Dr. Tsvetozar Georgiev; Assoc. Prof. Dr. Georgi Georgiev</Manager>
  <Company>University of Ruse "Angel Kanchev"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– Comparative Analysis Between the Following GPUs: NVIDIA GeForce GTX 1050 VS AMD Radeon RX 7600</dc:title>
  <dc:subject>System Programming</dc:subject>
  <dc:creator>Dian Lazarov</dc:creator>
  <cp:lastModifiedBy>Dian Lazarov</cp:lastModifiedBy>
  <cp:revision>606</cp:revision>
  <dcterms:modified xsi:type="dcterms:W3CDTF">2025-11-28T17:29:33Z</dcterms:modified>
  <dc:language>Bulgarian</dc:language>
</cp:coreProperties>
</file>