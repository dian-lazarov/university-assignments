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3"/>
  </p:notesMasterIdLst>
  <p:sldIdLst>
    <p:sldId id="257" r:id="rId2"/>
    <p:sldId id="256" r:id="rId3"/>
    <p:sldId id="294" r:id="rId4"/>
    <p:sldId id="264" r:id="rId5"/>
    <p:sldId id="270" r:id="rId6"/>
    <p:sldId id="271" r:id="rId7"/>
    <p:sldId id="272" r:id="rId8"/>
    <p:sldId id="273" r:id="rId9"/>
    <p:sldId id="262" r:id="rId10"/>
    <p:sldId id="274" r:id="rId11"/>
    <p:sldId id="295" r:id="rId12"/>
    <p:sldId id="275" r:id="rId13"/>
    <p:sldId id="276" r:id="rId14"/>
    <p:sldId id="277" r:id="rId15"/>
    <p:sldId id="278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6" r:id="rId24"/>
    <p:sldId id="288" r:id="rId25"/>
    <p:sldId id="289" r:id="rId26"/>
    <p:sldId id="290" r:id="rId27"/>
    <p:sldId id="292" r:id="rId28"/>
    <p:sldId id="293" r:id="rId29"/>
    <p:sldId id="297" r:id="rId30"/>
    <p:sldId id="298" r:id="rId31"/>
    <p:sldId id="26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04" autoAdjust="0"/>
    <p:restoredTop sz="78935" autoAdjust="0"/>
  </p:normalViewPr>
  <p:slideViewPr>
    <p:cSldViewPr snapToGrid="0">
      <p:cViewPr varScale="1">
        <p:scale>
          <a:sx n="107" d="100"/>
          <a:sy n="107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E12BE-7246-4011-A2C9-E340DDDEA050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9224F-4ED7-43C3-AA68-A7ABFA5B977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9224F-4ED7-43C3-AA68-A7ABFA5B9775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366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Роля			Часове		</a:t>
            </a:r>
            <a:r>
              <a:rPr lang="en-US" dirty="0"/>
              <a:t>	</a:t>
            </a:r>
            <a:r>
              <a:rPr lang="ru-RU" dirty="0"/>
              <a:t>Сума</a:t>
            </a:r>
          </a:p>
          <a:p>
            <a:endParaRPr lang="ru-RU" dirty="0"/>
          </a:p>
          <a:p>
            <a:r>
              <a:rPr lang="ru-RU" dirty="0"/>
              <a:t>Мениджър			80ч/30 лв			2 400</a:t>
            </a:r>
          </a:p>
          <a:p>
            <a:r>
              <a:rPr lang="ru-RU" dirty="0"/>
              <a:t>Бизнес анализатор	</a:t>
            </a:r>
            <a:r>
              <a:rPr lang="en-US" dirty="0"/>
              <a:t>	</a:t>
            </a:r>
            <a:r>
              <a:rPr lang="ru-RU" dirty="0"/>
              <a:t>70ч/25 лв			1 750</a:t>
            </a:r>
          </a:p>
          <a:p>
            <a:r>
              <a:rPr lang="ru-RU" dirty="0"/>
              <a:t>Програмист			200ч/25 лв			5 000</a:t>
            </a:r>
          </a:p>
          <a:p>
            <a:r>
              <a:rPr lang="ru-RU" dirty="0"/>
              <a:t>Специалист БД		75ч/25 лв			1 875</a:t>
            </a:r>
          </a:p>
          <a:p>
            <a:r>
              <a:rPr lang="ru-RU" dirty="0"/>
              <a:t>Дизайнер			75ч/25 лв			1 875</a:t>
            </a:r>
          </a:p>
          <a:p>
            <a:endParaRPr lang="ru-RU" dirty="0"/>
          </a:p>
          <a:p>
            <a:r>
              <a:rPr lang="ru-RU" dirty="0"/>
              <a:t>Общо			500 ч		</a:t>
            </a:r>
            <a:r>
              <a:rPr lang="en-US" dirty="0"/>
              <a:t>	</a:t>
            </a:r>
            <a:r>
              <a:rPr lang="ru-RU" dirty="0"/>
              <a:t>12 900 лв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9224F-4ED7-43C3-AA68-A7ABFA5B9775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45348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2EB0-7ADF-5020-F95D-6640FACC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CCB63-6417-FA5F-4F2C-C1358B470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07F16-D73D-B435-823C-2C8176A22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CB4E2-7D92-86CD-075D-D28F694D2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9224F-4ED7-43C3-AA68-A7ABFA5B9775}" type="slidenum">
              <a:rPr lang="bg-BG" smtClean="0"/>
              <a:t>29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005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881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368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537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131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231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082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2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45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758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261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305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2733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257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600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0992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85720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580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D8309-2CEE-40E7-A9B4-A019F391BE5F}" type="datetimeFigureOut">
              <a:rPr lang="bg-BG" smtClean="0"/>
              <a:t>15.12.2025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4812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8217" y="1864659"/>
            <a:ext cx="7095565" cy="1108006"/>
          </a:xfrm>
        </p:spPr>
        <p:txBody>
          <a:bodyPr>
            <a:noAutofit/>
          </a:bodyPr>
          <a:lstStyle/>
          <a:p>
            <a:r>
              <a:rPr lang="bg-BG" sz="8000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KitchenMasters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CD5861A-93DE-C7AE-C254-D81F8E5AF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8217" y="3125063"/>
            <a:ext cx="7095565" cy="720796"/>
          </a:xfrm>
        </p:spPr>
        <p:txBody>
          <a:bodyPr>
            <a:noAutofit/>
          </a:bodyPr>
          <a:lstStyle/>
          <a:p>
            <a:pPr algn="ctr"/>
            <a:r>
              <a:rPr lang="bg-BG" sz="50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Представят</a:t>
            </a:r>
          </a:p>
        </p:txBody>
      </p:sp>
    </p:spTree>
    <p:extLst>
      <p:ext uri="{BB962C8B-B14F-4D97-AF65-F5344CB8AC3E}">
        <p14:creationId xmlns:p14="http://schemas.microsoft.com/office/powerpoint/2010/main" val="2092338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4724400" cy="1825096"/>
          </a:xfrm>
        </p:spPr>
        <p:txBody>
          <a:bodyPr>
            <a:normAutofit/>
          </a:bodyPr>
          <a:lstStyle/>
          <a:p>
            <a:pPr algn="ctr"/>
            <a:r>
              <a:rPr lang="bg-BG" sz="7000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PizzaHub</a:t>
            </a:r>
          </a:p>
        </p:txBody>
      </p:sp>
      <p:pic>
        <p:nvPicPr>
          <p:cNvPr id="9" name="Picture 8" descr="A piece of pizza with cheese and pepperoni&#10;&#10;AI-generated content may be incorrect.">
            <a:extLst>
              <a:ext uri="{FF2B5EF4-FFF2-40B4-BE49-F238E27FC236}">
                <a16:creationId xmlns:a16="http://schemas.microsoft.com/office/drawing/2014/main" id="{B8695EB1-A1B6-C5C2-50D7-46CCEF237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5138"/>
            <a:ext cx="4018265" cy="4018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590216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blue shirt&#10;&#10;AI-generated content may be incorrect.">
            <a:extLst>
              <a:ext uri="{FF2B5EF4-FFF2-40B4-BE49-F238E27FC236}">
                <a16:creationId xmlns:a16="http://schemas.microsoft.com/office/drawing/2014/main" id="{9CDB7E64-595C-B410-73E4-606C83EC15A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9" y="1350782"/>
            <a:ext cx="2201555" cy="22280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7BE178-74EB-3AB7-4130-C69EC3240A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" r="594"/>
          <a:stretch/>
        </p:blipFill>
        <p:spPr>
          <a:xfrm>
            <a:off x="4914540" y="1350783"/>
            <a:ext cx="2201555" cy="22280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0B687-17DF-F0AF-E73F-1FD2995B90C6}"/>
              </a:ext>
            </a:extLst>
          </p:cNvPr>
          <p:cNvSpPr txBox="1"/>
          <p:nvPr/>
        </p:nvSpPr>
        <p:spPr>
          <a:xfrm>
            <a:off x="8412483" y="3829831"/>
            <a:ext cx="3075667" cy="2612604"/>
          </a:xfrm>
          <a:prstGeom prst="roundRect">
            <a:avLst/>
          </a:prstGeom>
          <a:solidFill>
            <a:schemeClr val="tx2">
              <a:lumMod val="25000"/>
            </a:schemeClr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noAutofit/>
          </a:bodyPr>
          <a:lstStyle/>
          <a:p>
            <a:pPr algn="ctr"/>
            <a:r>
              <a:rPr lang="bg-BG" sz="2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Селин Софта</a:t>
            </a:r>
          </a:p>
          <a:p>
            <a:pPr algn="ctr"/>
            <a:r>
              <a:rPr lang="bg-BG" sz="1600" b="1" noProof="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 / UX Designer</a:t>
            </a:r>
          </a:p>
          <a:p>
            <a:pPr algn="just"/>
            <a:endParaRPr lang="bg-BG" sz="1500" noProof="0" dirty="0"/>
          </a:p>
          <a:p>
            <a:pPr algn="ctr">
              <a:spcAft>
                <a:spcPts val="600"/>
              </a:spcAft>
            </a:pPr>
            <a:r>
              <a:rPr lang="bg-BG" sz="1500" noProof="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 в РУ „Ангел Кънчев“: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Фак. № 233073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Група: 25Б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Специалност: КСТ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Курс: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F7BB5-119D-1BED-C66C-A288B6E9BCEC}"/>
              </a:ext>
            </a:extLst>
          </p:cNvPr>
          <p:cNvSpPr txBox="1"/>
          <p:nvPr/>
        </p:nvSpPr>
        <p:spPr>
          <a:xfrm>
            <a:off x="4558166" y="3829831"/>
            <a:ext cx="3075667" cy="2612604"/>
          </a:xfrm>
          <a:prstGeom prst="roundRect">
            <a:avLst/>
          </a:prstGeom>
          <a:solidFill>
            <a:schemeClr val="tx2">
              <a:lumMod val="25000"/>
            </a:schemeClr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noAutofit/>
          </a:bodyPr>
          <a:lstStyle/>
          <a:p>
            <a:pPr algn="ctr"/>
            <a:r>
              <a:rPr lang="bg-BG" sz="2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Биляна Паунова</a:t>
            </a:r>
          </a:p>
          <a:p>
            <a:pPr algn="ctr"/>
            <a:r>
              <a:rPr lang="bg-BG" sz="1600" b="1" noProof="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QA Tester | Business Analyst</a:t>
            </a:r>
          </a:p>
          <a:p>
            <a:pPr algn="just"/>
            <a:endParaRPr lang="bg-BG" sz="1500" noProof="0" dirty="0"/>
          </a:p>
          <a:p>
            <a:pPr algn="ctr">
              <a:spcAft>
                <a:spcPts val="600"/>
              </a:spcAft>
            </a:pPr>
            <a:r>
              <a:rPr lang="bg-BG" sz="1500" noProof="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 в РУ „Ангел Кънчев“: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Фак. № 233109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Група: 25Б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Специалност: КСТ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Курс: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4D742-4ABF-143E-A824-13DD5A80BDB4}"/>
              </a:ext>
            </a:extLst>
          </p:cNvPr>
          <p:cNvSpPr txBox="1">
            <a:spLocks/>
          </p:cNvSpPr>
          <p:nvPr/>
        </p:nvSpPr>
        <p:spPr>
          <a:xfrm>
            <a:off x="560112" y="3829831"/>
            <a:ext cx="3075667" cy="2612604"/>
          </a:xfrm>
          <a:prstGeom prst="roundRect">
            <a:avLst/>
          </a:prstGeom>
          <a:solidFill>
            <a:schemeClr val="tx2">
              <a:lumMod val="25000"/>
            </a:schemeClr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noAutofit/>
          </a:bodyPr>
          <a:lstStyle/>
          <a:p>
            <a:pPr algn="ctr"/>
            <a:r>
              <a:rPr lang="bg-BG" sz="2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Диан Лазаров</a:t>
            </a:r>
          </a:p>
          <a:p>
            <a:pPr algn="ctr"/>
            <a:r>
              <a:rPr lang="bg-BG" sz="1600" b="1" noProof="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Manager | Developer</a:t>
            </a:r>
          </a:p>
          <a:p>
            <a:pPr algn="just"/>
            <a:endParaRPr lang="bg-BG" sz="15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600"/>
              </a:spcAft>
            </a:pPr>
            <a:r>
              <a:rPr lang="bg-BG" sz="1500" noProof="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 в РУ „Ангел Кънчев“: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Фак. № 233078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Група: 25Б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Специалност: КСТ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Курс: 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FBDA90-E3B9-3545-8497-16BCBBDA51C2}"/>
              </a:ext>
            </a:extLst>
          </p:cNvPr>
          <p:cNvSpPr txBox="1">
            <a:spLocks/>
          </p:cNvSpPr>
          <p:nvPr/>
        </p:nvSpPr>
        <p:spPr>
          <a:xfrm>
            <a:off x="6487588" y="415565"/>
            <a:ext cx="4529023" cy="684205"/>
          </a:xfrm>
          <a:prstGeom prst="rect">
            <a:avLst/>
          </a:prstGeom>
        </p:spPr>
        <p:txBody>
          <a:bodyPr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Нашият Екип</a:t>
            </a:r>
          </a:p>
        </p:txBody>
      </p:sp>
      <p:pic>
        <p:nvPicPr>
          <p:cNvPr id="10" name="Picture 9" descr="A person with long hair smiling&#10;&#10;AI-generated content may be incorrect.">
            <a:extLst>
              <a:ext uri="{FF2B5EF4-FFF2-40B4-BE49-F238E27FC236}">
                <a16:creationId xmlns:a16="http://schemas.microsoft.com/office/drawing/2014/main" id="{78AF50C0-3278-256A-4088-3385ED01BEB2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716" y="1350600"/>
            <a:ext cx="2203200" cy="2228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417292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550AE2D-D612-9474-945A-D08C1B1A5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1558"/>
            <a:ext cx="9144000" cy="968188"/>
          </a:xfrm>
        </p:spPr>
        <p:txBody>
          <a:bodyPr>
            <a:normAutofit/>
          </a:bodyPr>
          <a:lstStyle/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Договор</a:t>
            </a:r>
          </a:p>
        </p:txBody>
      </p:sp>
      <p:pic>
        <p:nvPicPr>
          <p:cNvPr id="12" name="Picture 11" descr="A close up of a document&#10;&#10;AI-generated content may be incorrect.">
            <a:extLst>
              <a:ext uri="{FF2B5EF4-FFF2-40B4-BE49-F238E27FC236}">
                <a16:creationId xmlns:a16="http://schemas.microsoft.com/office/drawing/2014/main" id="{AC9EE045-38BF-4CEA-B674-2DD8D45B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57" b="7857"/>
          <a:stretch>
            <a:fillRect/>
          </a:stretch>
        </p:blipFill>
        <p:spPr>
          <a:xfrm>
            <a:off x="2333805" y="1666874"/>
            <a:ext cx="7524389" cy="4382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5570E3A1-1F94-5510-6EED-D084F0239069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</p:spTree>
    <p:extLst>
      <p:ext uri="{BB962C8B-B14F-4D97-AF65-F5344CB8AC3E}">
        <p14:creationId xmlns:p14="http://schemas.microsoft.com/office/powerpoint/2010/main" val="187330970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9CBEE-21FC-B840-E3B7-DEADC7D8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E7004A1-F806-B8F6-F585-474BFA20C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7" b="2487"/>
          <a:stretch/>
        </p:blipFill>
        <p:spPr>
          <a:xfrm>
            <a:off x="2333805" y="1673512"/>
            <a:ext cx="7524389" cy="4583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FD126C41-DB5A-894D-6D7E-7A2F8FED69D4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34AFBF-C693-EAA6-93A6-9A44EE9C9366}"/>
              </a:ext>
            </a:extLst>
          </p:cNvPr>
          <p:cNvSpPr txBox="1">
            <a:spLocks/>
          </p:cNvSpPr>
          <p:nvPr/>
        </p:nvSpPr>
        <p:spPr>
          <a:xfrm>
            <a:off x="2456330" y="436381"/>
            <a:ext cx="9144000" cy="968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Договор – общи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52937830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1B8F-65FB-3477-0550-CD8F273E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F1E5B23E-92CC-20D8-5EDD-BB1F1A7C0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3" t="13006" r="3552"/>
          <a:stretch>
            <a:fillRect/>
          </a:stretch>
        </p:blipFill>
        <p:spPr>
          <a:xfrm>
            <a:off x="1924049" y="1743075"/>
            <a:ext cx="8343901" cy="39530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Текстово поле 3">
            <a:extLst>
              <a:ext uri="{FF2B5EF4-FFF2-40B4-BE49-F238E27FC236}">
                <a16:creationId xmlns:a16="http://schemas.microsoft.com/office/drawing/2014/main" id="{56826EA1-5259-FAD2-72FF-214BA8C83258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2661E8-02D0-7A9D-D74A-5276C799BB92}"/>
              </a:ext>
            </a:extLst>
          </p:cNvPr>
          <p:cNvSpPr txBox="1">
            <a:spLocks/>
          </p:cNvSpPr>
          <p:nvPr/>
        </p:nvSpPr>
        <p:spPr>
          <a:xfrm>
            <a:off x="2456330" y="436381"/>
            <a:ext cx="9144000" cy="968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Договор – общи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75100797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99C4-0F07-95BF-ED35-96C5129E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5A2070-C1AA-C6B6-E84D-4C0ED39EC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075" y="391558"/>
            <a:ext cx="9144000" cy="968188"/>
          </a:xfrm>
        </p:spPr>
        <p:txBody>
          <a:bodyPr>
            <a:normAutofit fontScale="90000"/>
          </a:bodyPr>
          <a:lstStyle/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Договор – права и задължения</a:t>
            </a:r>
          </a:p>
        </p:txBody>
      </p:sp>
      <p:pic>
        <p:nvPicPr>
          <p:cNvPr id="9" name="Picture 8" descr="A document with text and numbers&#10;&#10;AI-generated content may be incorrect.">
            <a:extLst>
              <a:ext uri="{FF2B5EF4-FFF2-40B4-BE49-F238E27FC236}">
                <a16:creationId xmlns:a16="http://schemas.microsoft.com/office/drawing/2014/main" id="{473648D5-0E09-9173-40C2-5E29FB1F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7" b="1093"/>
          <a:stretch>
            <a:fillRect/>
          </a:stretch>
        </p:blipFill>
        <p:spPr>
          <a:xfrm>
            <a:off x="2658687" y="1487091"/>
            <a:ext cx="6874626" cy="4979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Текстово поле 3">
            <a:extLst>
              <a:ext uri="{FF2B5EF4-FFF2-40B4-BE49-F238E27FC236}">
                <a16:creationId xmlns:a16="http://schemas.microsoft.com/office/drawing/2014/main" id="{9AA68727-D8C5-6BD2-3F7B-CE1F7021D541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</p:spTree>
    <p:extLst>
      <p:ext uri="{BB962C8B-B14F-4D97-AF65-F5344CB8AC3E}">
        <p14:creationId xmlns:p14="http://schemas.microsoft.com/office/powerpoint/2010/main" val="112167969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E483-4143-491A-637E-FFE5B2AE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6357F30-3B87-E074-95F0-A2C79602F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4306" y="337770"/>
            <a:ext cx="9144000" cy="968188"/>
          </a:xfrm>
        </p:spPr>
        <p:txBody>
          <a:bodyPr>
            <a:normAutofit/>
          </a:bodyPr>
          <a:lstStyle/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План-бюджет</a:t>
            </a:r>
          </a:p>
        </p:txBody>
      </p:sp>
      <p:pic>
        <p:nvPicPr>
          <p:cNvPr id="3" name="Picture 2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1E48A7BF-463D-41FB-2B1D-F8D7D43A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" t="1092" r="686" b="1604"/>
          <a:stretch>
            <a:fillRect/>
          </a:stretch>
        </p:blipFill>
        <p:spPr>
          <a:xfrm>
            <a:off x="2662084" y="1510301"/>
            <a:ext cx="6872748" cy="48757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FE42C907-0163-6452-B030-0272DD79D838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</p:spTree>
    <p:extLst>
      <p:ext uri="{BB962C8B-B14F-4D97-AF65-F5344CB8AC3E}">
        <p14:creationId xmlns:p14="http://schemas.microsoft.com/office/powerpoint/2010/main" val="349710469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63EEBD-73CD-E87C-6495-729904CFB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7230" y="497379"/>
            <a:ext cx="6330508" cy="824915"/>
          </a:xfrm>
        </p:spPr>
        <p:txBody>
          <a:bodyPr>
            <a:normAutofit/>
          </a:bodyPr>
          <a:lstStyle/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Етапи на разработка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05B8F3-DD55-23E8-0132-2D8E0217EE7C}"/>
              </a:ext>
            </a:extLst>
          </p:cNvPr>
          <p:cNvGrpSpPr/>
          <p:nvPr/>
        </p:nvGrpSpPr>
        <p:grpSpPr>
          <a:xfrm>
            <a:off x="924172" y="2454461"/>
            <a:ext cx="1875546" cy="968194"/>
            <a:chOff x="1068584" y="2494636"/>
            <a:chExt cx="977224" cy="700825"/>
          </a:xfrm>
        </p:grpSpPr>
        <p:sp>
          <p:nvSpPr>
            <p:cNvPr id="12" name="Google Shape;1178;p65">
              <a:extLst>
                <a:ext uri="{FF2B5EF4-FFF2-40B4-BE49-F238E27FC236}">
                  <a16:creationId xmlns:a16="http://schemas.microsoft.com/office/drawing/2014/main" id="{201287AE-478E-F971-CCA0-BE4E7B385637}"/>
                </a:ext>
              </a:extLst>
            </p:cNvPr>
            <p:cNvSpPr txBox="1"/>
            <p:nvPr/>
          </p:nvSpPr>
          <p:spPr>
            <a:xfrm>
              <a:off x="1068584" y="2800661"/>
              <a:ext cx="977224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Анализ и планиране</a:t>
              </a:r>
            </a:p>
          </p:txBody>
        </p:sp>
        <p:sp>
          <p:nvSpPr>
            <p:cNvPr id="13" name="Google Shape;1179;p65">
              <a:extLst>
                <a:ext uri="{FF2B5EF4-FFF2-40B4-BE49-F238E27FC236}">
                  <a16:creationId xmlns:a16="http://schemas.microsoft.com/office/drawing/2014/main" id="{C3AE9238-6378-D97C-8272-5929DEB98ADE}"/>
                </a:ext>
              </a:extLst>
            </p:cNvPr>
            <p:cNvSpPr txBox="1"/>
            <p:nvPr/>
          </p:nvSpPr>
          <p:spPr>
            <a:xfrm>
              <a:off x="106858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7E4ADF-E6EE-F999-BE9C-8EFF6338D8E5}"/>
              </a:ext>
            </a:extLst>
          </p:cNvPr>
          <p:cNvGrpSpPr/>
          <p:nvPr/>
        </p:nvGrpSpPr>
        <p:grpSpPr>
          <a:xfrm>
            <a:off x="3189777" y="2460812"/>
            <a:ext cx="1833458" cy="968192"/>
            <a:chOff x="1118925" y="2494636"/>
            <a:chExt cx="977222" cy="700825"/>
          </a:xfrm>
        </p:grpSpPr>
        <p:sp>
          <p:nvSpPr>
            <p:cNvPr id="16" name="Google Shape;1178;p65">
              <a:extLst>
                <a:ext uri="{FF2B5EF4-FFF2-40B4-BE49-F238E27FC236}">
                  <a16:creationId xmlns:a16="http://schemas.microsoft.com/office/drawing/2014/main" id="{C847FA49-DD75-2296-74E3-5E4CDD42F4AB}"/>
                </a:ext>
              </a:extLst>
            </p:cNvPr>
            <p:cNvSpPr txBox="1"/>
            <p:nvPr/>
          </p:nvSpPr>
          <p:spPr>
            <a:xfrm>
              <a:off x="1118925" y="2800661"/>
              <a:ext cx="977221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Проектиране</a:t>
              </a:r>
            </a:p>
          </p:txBody>
        </p:sp>
        <p:sp>
          <p:nvSpPr>
            <p:cNvPr id="17" name="Google Shape;1179;p65">
              <a:extLst>
                <a:ext uri="{FF2B5EF4-FFF2-40B4-BE49-F238E27FC236}">
                  <a16:creationId xmlns:a16="http://schemas.microsoft.com/office/drawing/2014/main" id="{18C17C42-AAB6-1607-981D-1B1E616C4882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A147A5-6272-358B-5B30-626CBE3D54BD}"/>
              </a:ext>
            </a:extLst>
          </p:cNvPr>
          <p:cNvGrpSpPr/>
          <p:nvPr/>
        </p:nvGrpSpPr>
        <p:grpSpPr>
          <a:xfrm>
            <a:off x="5307230" y="2461975"/>
            <a:ext cx="1917437" cy="968189"/>
            <a:chOff x="1093153" y="2494636"/>
            <a:chExt cx="1021983" cy="700825"/>
          </a:xfrm>
        </p:grpSpPr>
        <p:sp>
          <p:nvSpPr>
            <p:cNvPr id="20" name="Google Shape;1178;p65">
              <a:extLst>
                <a:ext uri="{FF2B5EF4-FFF2-40B4-BE49-F238E27FC236}">
                  <a16:creationId xmlns:a16="http://schemas.microsoft.com/office/drawing/2014/main" id="{27EF036C-AB72-A98E-BCF6-89AB73508126}"/>
                </a:ext>
              </a:extLst>
            </p:cNvPr>
            <p:cNvSpPr txBox="1"/>
            <p:nvPr/>
          </p:nvSpPr>
          <p:spPr>
            <a:xfrm>
              <a:off x="1093153" y="2800661"/>
              <a:ext cx="1021983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Реализация</a:t>
              </a:r>
            </a:p>
          </p:txBody>
        </p:sp>
        <p:sp>
          <p:nvSpPr>
            <p:cNvPr id="21" name="Google Shape;1179;p65">
              <a:extLst>
                <a:ext uri="{FF2B5EF4-FFF2-40B4-BE49-F238E27FC236}">
                  <a16:creationId xmlns:a16="http://schemas.microsoft.com/office/drawing/2014/main" id="{7847D8FE-D95C-1EC9-82C7-77CCD9B75BAB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9AF108-A441-76E3-9BE4-98F8CF97B22A}"/>
              </a:ext>
            </a:extLst>
          </p:cNvPr>
          <p:cNvGrpSpPr/>
          <p:nvPr/>
        </p:nvGrpSpPr>
        <p:grpSpPr>
          <a:xfrm>
            <a:off x="7062129" y="2460812"/>
            <a:ext cx="1833458" cy="968188"/>
            <a:chOff x="1118925" y="2494636"/>
            <a:chExt cx="977222" cy="700825"/>
          </a:xfrm>
        </p:grpSpPr>
        <p:sp>
          <p:nvSpPr>
            <p:cNvPr id="24" name="Google Shape;1178;p65">
              <a:extLst>
                <a:ext uri="{FF2B5EF4-FFF2-40B4-BE49-F238E27FC236}">
                  <a16:creationId xmlns:a16="http://schemas.microsoft.com/office/drawing/2014/main" id="{82D9854A-C404-C4E0-B61E-FE5A1CC118CD}"/>
                </a:ext>
              </a:extLst>
            </p:cNvPr>
            <p:cNvSpPr txBox="1"/>
            <p:nvPr/>
          </p:nvSpPr>
          <p:spPr>
            <a:xfrm>
              <a:off x="1118925" y="2800661"/>
              <a:ext cx="977221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Тестване</a:t>
              </a:r>
            </a:p>
          </p:txBody>
        </p:sp>
        <p:sp>
          <p:nvSpPr>
            <p:cNvPr id="25" name="Google Shape;1179;p65">
              <a:extLst>
                <a:ext uri="{FF2B5EF4-FFF2-40B4-BE49-F238E27FC236}">
                  <a16:creationId xmlns:a16="http://schemas.microsoft.com/office/drawing/2014/main" id="{32171577-7C1A-10F4-AC82-F5DC577AA383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A934C-B38C-91C0-FF9A-DD880567F5DB}"/>
              </a:ext>
            </a:extLst>
          </p:cNvPr>
          <p:cNvGrpSpPr/>
          <p:nvPr/>
        </p:nvGrpSpPr>
        <p:grpSpPr>
          <a:xfrm>
            <a:off x="8979566" y="2461976"/>
            <a:ext cx="2121570" cy="968188"/>
            <a:chOff x="1028806" y="2494636"/>
            <a:chExt cx="1130784" cy="700825"/>
          </a:xfrm>
        </p:grpSpPr>
        <p:sp>
          <p:nvSpPr>
            <p:cNvPr id="28" name="Google Shape;1178;p65">
              <a:extLst>
                <a:ext uri="{FF2B5EF4-FFF2-40B4-BE49-F238E27FC236}">
                  <a16:creationId xmlns:a16="http://schemas.microsoft.com/office/drawing/2014/main" id="{8734340D-07F9-0259-2A42-0065BC992291}"/>
                </a:ext>
              </a:extLst>
            </p:cNvPr>
            <p:cNvSpPr txBox="1"/>
            <p:nvPr/>
          </p:nvSpPr>
          <p:spPr>
            <a:xfrm>
              <a:off x="1028806" y="2800661"/>
              <a:ext cx="1130784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Внедряване и поддръжка</a:t>
              </a:r>
            </a:p>
          </p:txBody>
        </p:sp>
        <p:sp>
          <p:nvSpPr>
            <p:cNvPr id="29" name="Google Shape;1179;p65">
              <a:extLst>
                <a:ext uri="{FF2B5EF4-FFF2-40B4-BE49-F238E27FC236}">
                  <a16:creationId xmlns:a16="http://schemas.microsoft.com/office/drawing/2014/main" id="{6376D1B3-88A4-CB7C-4E13-3E6FB7C0D0ED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#5</a:t>
              </a:r>
            </a:p>
          </p:txBody>
        </p:sp>
      </p:grpSp>
      <p:cxnSp>
        <p:nvCxnSpPr>
          <p:cNvPr id="47" name="Google Shape;1198;p65">
            <a:extLst>
              <a:ext uri="{FF2B5EF4-FFF2-40B4-BE49-F238E27FC236}">
                <a16:creationId xmlns:a16="http://schemas.microsoft.com/office/drawing/2014/main" id="{41D87A12-AB3F-06BB-E254-B7F88944ED3B}"/>
              </a:ext>
            </a:extLst>
          </p:cNvPr>
          <p:cNvCxnSpPr>
            <a:cxnSpLocks/>
          </p:cNvCxnSpPr>
          <p:nvPr/>
        </p:nvCxnSpPr>
        <p:spPr>
          <a:xfrm flipH="1">
            <a:off x="6898862" y="2727170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Google Shape;1198;p65">
            <a:extLst>
              <a:ext uri="{FF2B5EF4-FFF2-40B4-BE49-F238E27FC236}">
                <a16:creationId xmlns:a16="http://schemas.microsoft.com/office/drawing/2014/main" id="{EE2CB693-3F3B-5C33-38A7-874FC40B890E}"/>
              </a:ext>
            </a:extLst>
          </p:cNvPr>
          <p:cNvCxnSpPr>
            <a:cxnSpLocks/>
          </p:cNvCxnSpPr>
          <p:nvPr/>
        </p:nvCxnSpPr>
        <p:spPr>
          <a:xfrm flipH="1">
            <a:off x="8732319" y="2733519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Google Shape;1198;p65">
            <a:extLst>
              <a:ext uri="{FF2B5EF4-FFF2-40B4-BE49-F238E27FC236}">
                <a16:creationId xmlns:a16="http://schemas.microsoft.com/office/drawing/2014/main" id="{5BC4C912-D803-7443-A9D8-E248FD8E503F}"/>
              </a:ext>
            </a:extLst>
          </p:cNvPr>
          <p:cNvCxnSpPr>
            <a:cxnSpLocks/>
          </p:cNvCxnSpPr>
          <p:nvPr/>
        </p:nvCxnSpPr>
        <p:spPr>
          <a:xfrm flipH="1">
            <a:off x="5006922" y="2720821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Google Shape;1198;p65">
            <a:extLst>
              <a:ext uri="{FF2B5EF4-FFF2-40B4-BE49-F238E27FC236}">
                <a16:creationId xmlns:a16="http://schemas.microsoft.com/office/drawing/2014/main" id="{6F25F273-FC87-CE46-961E-7BF898179BCA}"/>
              </a:ext>
            </a:extLst>
          </p:cNvPr>
          <p:cNvCxnSpPr>
            <a:cxnSpLocks/>
          </p:cNvCxnSpPr>
          <p:nvPr/>
        </p:nvCxnSpPr>
        <p:spPr>
          <a:xfrm flipH="1">
            <a:off x="2741440" y="2714472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16CDBC5B-FF1A-51DC-7ACC-5C54766F98C9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</p:spTree>
    <p:extLst>
      <p:ext uri="{BB962C8B-B14F-4D97-AF65-F5344CB8AC3E}">
        <p14:creationId xmlns:p14="http://schemas.microsoft.com/office/powerpoint/2010/main" val="93981381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C699-A918-D9B9-D9B9-1CFB5F49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7B4FB3E-E483-A603-85D2-C3082F1D3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427" y="140094"/>
            <a:ext cx="3666565" cy="858665"/>
          </a:xfrm>
        </p:spPr>
        <p:txBody>
          <a:bodyPr>
            <a:normAutofit/>
          </a:bodyPr>
          <a:lstStyle/>
          <a:p>
            <a:pPr algn="ct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Гант график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4EB4CE-B01F-F0C6-3652-EED930E8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8" y="1014487"/>
            <a:ext cx="12021224" cy="56924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Текстово поле 3">
            <a:extLst>
              <a:ext uri="{FF2B5EF4-FFF2-40B4-BE49-F238E27FC236}">
                <a16:creationId xmlns:a16="http://schemas.microsoft.com/office/drawing/2014/main" id="{791358A1-2C29-4BF2-E08C-7287524B1522}"/>
              </a:ext>
            </a:extLst>
          </p:cNvPr>
          <p:cNvSpPr txBox="1"/>
          <p:nvPr/>
        </p:nvSpPr>
        <p:spPr>
          <a:xfrm>
            <a:off x="6768131" y="6317219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0" name="Текстово поле 3">
            <a:extLst>
              <a:ext uri="{FF2B5EF4-FFF2-40B4-BE49-F238E27FC236}">
                <a16:creationId xmlns:a16="http://schemas.microsoft.com/office/drawing/2014/main" id="{FE4334BC-58C8-65E1-822A-520C31660921}"/>
              </a:ext>
            </a:extLst>
          </p:cNvPr>
          <p:cNvSpPr txBox="1"/>
          <p:nvPr/>
        </p:nvSpPr>
        <p:spPr>
          <a:xfrm>
            <a:off x="8478428" y="6317219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4" name="Текстово поле 3">
            <a:extLst>
              <a:ext uri="{FF2B5EF4-FFF2-40B4-BE49-F238E27FC236}">
                <a16:creationId xmlns:a16="http://schemas.microsoft.com/office/drawing/2014/main" id="{D76375D8-C5C5-57D1-DD8B-A1D0CB52514F}"/>
              </a:ext>
            </a:extLst>
          </p:cNvPr>
          <p:cNvSpPr txBox="1"/>
          <p:nvPr/>
        </p:nvSpPr>
        <p:spPr>
          <a:xfrm>
            <a:off x="10515937" y="6327607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140013637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34E5-E3B4-8CE3-5304-49B2BDC4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80C84F1-9AC0-64AC-8E30-361B0F78C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6987" y="430305"/>
            <a:ext cx="3684494" cy="1248992"/>
          </a:xfrm>
        </p:spPr>
        <p:txBody>
          <a:bodyPr>
            <a:normAutofit fontScale="90000"/>
          </a:bodyPr>
          <a:lstStyle/>
          <a:p>
            <a:pPr algn="ct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Гант график (Етапи)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798189-D2A3-DDE4-1D51-AFFD204DE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635" y="84641"/>
            <a:ext cx="2817885" cy="6688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C48661C2-E7C1-359A-DB5B-39D1C207592F}"/>
              </a:ext>
            </a:extLst>
          </p:cNvPr>
          <p:cNvSpPr txBox="1"/>
          <p:nvPr/>
        </p:nvSpPr>
        <p:spPr>
          <a:xfrm>
            <a:off x="10186146" y="5359943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8EB542C-CA23-F875-F2CC-36F52ECCAA53}"/>
              </a:ext>
            </a:extLst>
          </p:cNvPr>
          <p:cNvSpPr txBox="1"/>
          <p:nvPr/>
        </p:nvSpPr>
        <p:spPr>
          <a:xfrm>
            <a:off x="10022538" y="5799535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5" name="Текстово поле 3">
            <a:extLst>
              <a:ext uri="{FF2B5EF4-FFF2-40B4-BE49-F238E27FC236}">
                <a16:creationId xmlns:a16="http://schemas.microsoft.com/office/drawing/2014/main" id="{42146084-3B43-7EA8-55DE-FDF2202965D7}"/>
              </a:ext>
            </a:extLst>
          </p:cNvPr>
          <p:cNvSpPr txBox="1"/>
          <p:nvPr/>
        </p:nvSpPr>
        <p:spPr>
          <a:xfrm>
            <a:off x="10186145" y="6239127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277980618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FE18-1FDE-FACA-6DCF-119F41DA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51996"/>
            <a:ext cx="8610600" cy="1293028"/>
          </a:xfrm>
        </p:spPr>
        <p:txBody>
          <a:bodyPr/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Функционални изисквания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871B-9AF0-98D6-A75E-0259EF50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8141"/>
            <a:ext cx="10820400" cy="4820191"/>
          </a:xfrm>
        </p:spPr>
        <p:txBody>
          <a:bodyPr>
            <a:normAutofit lnSpcReduction="10000"/>
          </a:bodyPr>
          <a:lstStyle/>
          <a:p>
            <a:r>
              <a:rPr lang="bg-BG" noProof="0" dirty="0"/>
              <a:t>Потребителите ще имат възможност да разглеждат менюто на ресторанта онлайн.</a:t>
            </a:r>
          </a:p>
          <a:p>
            <a:r>
              <a:rPr lang="bg-BG" noProof="0" dirty="0"/>
              <a:t>Потребителите ще могат да си създават собствен профил в системата.</a:t>
            </a:r>
          </a:p>
          <a:p>
            <a:r>
              <a:rPr lang="bg-BG" noProof="0" dirty="0"/>
              <a:t>Потребителите ще могат да потвърждават/отказват своите резервации.</a:t>
            </a:r>
          </a:p>
          <a:p>
            <a:r>
              <a:rPr lang="bg-BG" noProof="0" dirty="0"/>
              <a:t>Потребителите ще могат да добавят/премахват продукти от количката и да преглеждат историята на всички направени поръчки.</a:t>
            </a:r>
          </a:p>
          <a:p>
            <a:r>
              <a:rPr lang="bg-BG" noProof="0" dirty="0"/>
              <a:t>Потребителите ще имат възможност да проследяват и приемат поръчката си.</a:t>
            </a:r>
          </a:p>
          <a:p>
            <a:r>
              <a:rPr lang="bg-BG" noProof="0" dirty="0"/>
              <a:t>Персоналът ще може да управлява поръчките, масите и плащанията.</a:t>
            </a:r>
          </a:p>
          <a:p>
            <a:r>
              <a:rPr lang="bg-BG" noProof="0" dirty="0"/>
              <a:t>Администраторите ще могат да управляват профилите на потребителите.</a:t>
            </a:r>
          </a:p>
          <a:p>
            <a:r>
              <a:rPr lang="bg-BG" noProof="0" dirty="0"/>
              <a:t>Системата трябва да поддържа следните функции:</a:t>
            </a:r>
          </a:p>
          <a:p>
            <a:pPr marL="896938" lvl="1" indent="-349250">
              <a:buFont typeface="Wingdings" panose="05000000000000000000" pitchFamily="2" charset="2"/>
              <a:buChar char="Ø"/>
            </a:pPr>
            <a:r>
              <a:rPr lang="bg-BG" noProof="0" dirty="0"/>
              <a:t>плащане с карта;</a:t>
            </a:r>
          </a:p>
          <a:p>
            <a:pPr marL="896938" lvl="1" indent="-349250">
              <a:buFont typeface="Wingdings" panose="05000000000000000000" pitchFamily="2" charset="2"/>
              <a:buChar char="Ø"/>
            </a:pPr>
            <a:r>
              <a:rPr lang="bg-BG" noProof="0" dirty="0"/>
              <a:t>мобилни портфейли;</a:t>
            </a:r>
          </a:p>
          <a:p>
            <a:pPr marL="896938" lvl="1" indent="-349250">
              <a:buFont typeface="Wingdings" panose="05000000000000000000" pitchFamily="2" charset="2"/>
              <a:buChar char="Ø"/>
            </a:pPr>
            <a:r>
              <a:rPr lang="bg-BG" noProof="0" dirty="0"/>
              <a:t>плащане на място (в брой).</a:t>
            </a:r>
          </a:p>
        </p:txBody>
      </p:sp>
      <p:sp>
        <p:nvSpPr>
          <p:cNvPr id="5" name="Текстово поле 3">
            <a:extLst>
              <a:ext uri="{FF2B5EF4-FFF2-40B4-BE49-F238E27FC236}">
                <a16:creationId xmlns:a16="http://schemas.microsoft.com/office/drawing/2014/main" id="{277073CB-3563-3F9F-F6F8-78544D143A81}"/>
              </a:ext>
            </a:extLst>
          </p:cNvPr>
          <p:cNvSpPr txBox="1"/>
          <p:nvPr/>
        </p:nvSpPr>
        <p:spPr>
          <a:xfrm>
            <a:off x="10186146" y="5359943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06B349FC-320D-EDBE-13F3-C0AFB9B9B488}"/>
              </a:ext>
            </a:extLst>
          </p:cNvPr>
          <p:cNvSpPr txBox="1"/>
          <p:nvPr/>
        </p:nvSpPr>
        <p:spPr>
          <a:xfrm>
            <a:off x="10022538" y="5799535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7" name="Текстово поле 3">
            <a:extLst>
              <a:ext uri="{FF2B5EF4-FFF2-40B4-BE49-F238E27FC236}">
                <a16:creationId xmlns:a16="http://schemas.microsoft.com/office/drawing/2014/main" id="{C265FC6A-7405-A822-C786-7D394309F960}"/>
              </a:ext>
            </a:extLst>
          </p:cNvPr>
          <p:cNvSpPr txBox="1"/>
          <p:nvPr/>
        </p:nvSpPr>
        <p:spPr>
          <a:xfrm>
            <a:off x="10186145" y="6239127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174107596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1BAE-3E6B-6739-3B62-6233F377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4375-A57B-3767-7818-A296427B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51996"/>
            <a:ext cx="8610600" cy="1293028"/>
          </a:xfrm>
        </p:spPr>
        <p:txBody>
          <a:bodyPr/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неФункционални изисквания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960B-4D3D-1611-59EC-F396A3DB2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8141"/>
            <a:ext cx="10820400" cy="4820191"/>
          </a:xfrm>
        </p:spPr>
        <p:txBody>
          <a:bodyPr>
            <a:normAutofit/>
          </a:bodyPr>
          <a:lstStyle/>
          <a:p>
            <a:r>
              <a:rPr lang="bg-BG" noProof="0" dirty="0"/>
              <a:t>Приложението трябва да поддържа паралелна употреба от поне 100 потребители.</a:t>
            </a:r>
          </a:p>
          <a:p>
            <a:r>
              <a:rPr lang="bg-BG" noProof="0" dirty="0"/>
              <a:t>Транзакциите при онлайн плащанията трябва да се обработват в реално време (без забавяния).</a:t>
            </a:r>
          </a:p>
          <a:p>
            <a:r>
              <a:rPr lang="bg-BG" noProof="0" dirty="0"/>
              <a:t>Времето за зареждане на страниците не трябва да надвишава 2-3 секунди.</a:t>
            </a:r>
          </a:p>
          <a:p>
            <a:r>
              <a:rPr lang="bg-BG" noProof="0" dirty="0"/>
              <a:t>Приложението трябва да бъде достъпно през стандартни уеб браузъри.</a:t>
            </a:r>
          </a:p>
          <a:p>
            <a:r>
              <a:rPr lang="bg-BG" noProof="0" dirty="0"/>
              <a:t>Архитектурата на системата трябва да позволява бъдещо разширение на функционалностите.</a:t>
            </a:r>
          </a:p>
          <a:p>
            <a:r>
              <a:rPr lang="bg-BG" noProof="0" dirty="0"/>
              <a:t>Системата трябва редовно да прави резервни копия (backup) на данните и да може да ги възстановява при срив.</a:t>
            </a:r>
          </a:p>
          <a:p>
            <a:r>
              <a:rPr lang="bg-BG" noProof="0" dirty="0"/>
              <a:t>Потребителският интерфейс трябва да бъде лесен за използване и адаптивен към различни устройства (компютри, лаптопи, таблети, телефони).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2C813E27-837D-843C-4940-C09D219F3FBE}"/>
              </a:ext>
            </a:extLst>
          </p:cNvPr>
          <p:cNvSpPr txBox="1"/>
          <p:nvPr/>
        </p:nvSpPr>
        <p:spPr>
          <a:xfrm>
            <a:off x="3240741" y="630833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5" name="Текстово поле 3">
            <a:extLst>
              <a:ext uri="{FF2B5EF4-FFF2-40B4-BE49-F238E27FC236}">
                <a16:creationId xmlns:a16="http://schemas.microsoft.com/office/drawing/2014/main" id="{308DAA4F-09CF-9F9E-61C1-9EF618FDFA94}"/>
              </a:ext>
            </a:extLst>
          </p:cNvPr>
          <p:cNvSpPr txBox="1"/>
          <p:nvPr/>
        </p:nvSpPr>
        <p:spPr>
          <a:xfrm>
            <a:off x="5022756" y="6307702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5D420B3D-BC66-D218-E2BC-2DB52FAB1D01}"/>
              </a:ext>
            </a:extLst>
          </p:cNvPr>
          <p:cNvSpPr txBox="1"/>
          <p:nvPr/>
        </p:nvSpPr>
        <p:spPr>
          <a:xfrm>
            <a:off x="7131983" y="631871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384030463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184F-DFE4-EAC1-738C-5ABAC912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CEF2-BDCE-D9B7-150E-EAEB599A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10988"/>
            <a:ext cx="8610600" cy="959224"/>
          </a:xfrm>
        </p:spPr>
        <p:txBody>
          <a:bodyPr/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потребителски истории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D09EF2-6255-1543-9D3C-6CE22E40F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47" y="1645024"/>
            <a:ext cx="11555506" cy="4896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CC470BAC-CDCA-B065-5CFB-E73C98B47D2F}"/>
              </a:ext>
            </a:extLst>
          </p:cNvPr>
          <p:cNvSpPr txBox="1"/>
          <p:nvPr/>
        </p:nvSpPr>
        <p:spPr>
          <a:xfrm>
            <a:off x="10186146" y="5359943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7" name="Текстово поле 3">
            <a:extLst>
              <a:ext uri="{FF2B5EF4-FFF2-40B4-BE49-F238E27FC236}">
                <a16:creationId xmlns:a16="http://schemas.microsoft.com/office/drawing/2014/main" id="{B90871A1-6DF4-D526-92BF-B4339ACCBF66}"/>
              </a:ext>
            </a:extLst>
          </p:cNvPr>
          <p:cNvSpPr txBox="1"/>
          <p:nvPr/>
        </p:nvSpPr>
        <p:spPr>
          <a:xfrm>
            <a:off x="10022538" y="5799535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8" name="Текстово поле 3">
            <a:extLst>
              <a:ext uri="{FF2B5EF4-FFF2-40B4-BE49-F238E27FC236}">
                <a16:creationId xmlns:a16="http://schemas.microsoft.com/office/drawing/2014/main" id="{8A9C2FE1-BA2C-EDF4-3B23-2249FAEF2604}"/>
              </a:ext>
            </a:extLst>
          </p:cNvPr>
          <p:cNvSpPr txBox="1"/>
          <p:nvPr/>
        </p:nvSpPr>
        <p:spPr>
          <a:xfrm>
            <a:off x="10186145" y="6239127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45940713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924D8-555F-8CC3-42F9-E7BCE178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3302-76C8-974A-2952-B0E2BC54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571" y="425263"/>
            <a:ext cx="8610600" cy="959224"/>
          </a:xfrm>
        </p:spPr>
        <p:txBody>
          <a:bodyPr>
            <a:normAutofit fontScale="90000"/>
          </a:bodyPr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за управление на</a:t>
            </a:r>
            <a:b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проекта (jira)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978CC3-DA94-3BDA-F46E-EC8DA88AB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29" y="1534105"/>
            <a:ext cx="10362342" cy="51190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Текстово поле 3">
            <a:extLst>
              <a:ext uri="{FF2B5EF4-FFF2-40B4-BE49-F238E27FC236}">
                <a16:creationId xmlns:a16="http://schemas.microsoft.com/office/drawing/2014/main" id="{32086585-05CB-0E4C-9651-E35EF5C1FF95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9" name="Текстово поле 3">
            <a:extLst>
              <a:ext uri="{FF2B5EF4-FFF2-40B4-BE49-F238E27FC236}">
                <a16:creationId xmlns:a16="http://schemas.microsoft.com/office/drawing/2014/main" id="{690C973E-727B-A30D-C98A-46729C4AD22C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0" name="Текстово поле 3">
            <a:extLst>
              <a:ext uri="{FF2B5EF4-FFF2-40B4-BE49-F238E27FC236}">
                <a16:creationId xmlns:a16="http://schemas.microsoft.com/office/drawing/2014/main" id="{A09533CD-A1FA-BA13-5570-7A892DB2DA24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4154271542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DDA7-6A0C-1DE1-30EA-D630C48A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835ABDE3-7284-51C0-3D03-C3C6006D5535}"/>
              </a:ext>
            </a:extLst>
          </p:cNvPr>
          <p:cNvSpPr txBox="1"/>
          <p:nvPr/>
        </p:nvSpPr>
        <p:spPr>
          <a:xfrm>
            <a:off x="724444" y="3221414"/>
            <a:ext cx="24637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разглеждане на менюто онлайн.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потребителите да си създават собствен профил.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добавяне и премахване на продукти от количката.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80AC3-5B99-921E-66CE-D0FE1C662B12}"/>
              </a:ext>
            </a:extLst>
          </p:cNvPr>
          <p:cNvSpPr txBox="1">
            <a:spLocks/>
          </p:cNvSpPr>
          <p:nvPr/>
        </p:nvSpPr>
        <p:spPr>
          <a:xfrm>
            <a:off x="2924175" y="415738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bg-BG" sz="4500" b="1" noProof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58AC70-1424-BC66-92EC-D78637D7A7C5}"/>
              </a:ext>
            </a:extLst>
          </p:cNvPr>
          <p:cNvSpPr txBox="1">
            <a:spLocks/>
          </p:cNvSpPr>
          <p:nvPr/>
        </p:nvSpPr>
        <p:spPr>
          <a:xfrm>
            <a:off x="5348287" y="415738"/>
            <a:ext cx="5886450" cy="61594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MoSCoW приоритизация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0B009B-C211-841A-325E-247360F150DA}"/>
              </a:ext>
            </a:extLst>
          </p:cNvPr>
          <p:cNvSpPr/>
          <p:nvPr/>
        </p:nvSpPr>
        <p:spPr>
          <a:xfrm>
            <a:off x="742950" y="1209675"/>
            <a:ext cx="2453566" cy="1885950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MUST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71587A-413D-52C5-E6E6-AC3271C5B07C}"/>
              </a:ext>
            </a:extLst>
          </p:cNvPr>
          <p:cNvSpPr/>
          <p:nvPr/>
        </p:nvSpPr>
        <p:spPr>
          <a:xfrm>
            <a:off x="3467100" y="1209675"/>
            <a:ext cx="2453566" cy="1885950"/>
          </a:xfrm>
          <a:prstGeom prst="roundRect">
            <a:avLst/>
          </a:prstGeom>
          <a:solidFill>
            <a:srgbClr val="92D05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SHOULD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F4427D-5150-EE73-6A70-85D2909ED17C}"/>
              </a:ext>
            </a:extLst>
          </p:cNvPr>
          <p:cNvSpPr/>
          <p:nvPr/>
        </p:nvSpPr>
        <p:spPr>
          <a:xfrm>
            <a:off x="6191250" y="1209675"/>
            <a:ext cx="2453566" cy="1885950"/>
          </a:xfrm>
          <a:prstGeom prst="roundRect">
            <a:avLst/>
          </a:prstGeom>
          <a:solidFill>
            <a:srgbClr val="FFC00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COULD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5B5953-D667-6160-370F-1333991DDA28}"/>
              </a:ext>
            </a:extLst>
          </p:cNvPr>
          <p:cNvSpPr/>
          <p:nvPr/>
        </p:nvSpPr>
        <p:spPr>
          <a:xfrm>
            <a:off x="8915400" y="1209675"/>
            <a:ext cx="2453566" cy="1885950"/>
          </a:xfrm>
          <a:prstGeom prst="roundRect">
            <a:avLst/>
          </a:prstGeom>
          <a:solidFill>
            <a:srgbClr val="C0000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WON’T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851878-5DE3-1FC1-266C-670376BAB548}"/>
              </a:ext>
            </a:extLst>
          </p:cNvPr>
          <p:cNvCxnSpPr>
            <a:cxnSpLocks/>
          </p:cNvCxnSpPr>
          <p:nvPr/>
        </p:nvCxnSpPr>
        <p:spPr>
          <a:xfrm>
            <a:off x="3324225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F7F739-0F9A-4664-6AC7-1CAA3137BE70}"/>
              </a:ext>
            </a:extLst>
          </p:cNvPr>
          <p:cNvCxnSpPr>
            <a:cxnSpLocks/>
          </p:cNvCxnSpPr>
          <p:nvPr/>
        </p:nvCxnSpPr>
        <p:spPr>
          <a:xfrm>
            <a:off x="6061869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B955F3-51AE-4A52-4403-5FF42204832D}"/>
              </a:ext>
            </a:extLst>
          </p:cNvPr>
          <p:cNvCxnSpPr>
            <a:cxnSpLocks/>
          </p:cNvCxnSpPr>
          <p:nvPr/>
        </p:nvCxnSpPr>
        <p:spPr>
          <a:xfrm>
            <a:off x="8772525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C44C6C6-465A-585B-F4E4-B63EE03EF04B}"/>
              </a:ext>
            </a:extLst>
          </p:cNvPr>
          <p:cNvSpPr txBox="1"/>
          <p:nvPr/>
        </p:nvSpPr>
        <p:spPr>
          <a:xfrm>
            <a:off x="3320883" y="3221414"/>
            <a:ext cx="26082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преглеждане на историята на всички направени поръчки.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плащане на поръчката с карта или мобилен портфейл.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B9936D-4849-010B-74DA-FEDB9FA1AFEA}"/>
              </a:ext>
            </a:extLst>
          </p:cNvPr>
          <p:cNvSpPr txBox="1"/>
          <p:nvPr/>
        </p:nvSpPr>
        <p:spPr>
          <a:xfrm>
            <a:off x="6058525" y="3237481"/>
            <a:ext cx="2567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създаване на списък с любими ястия.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685A9-2B53-BED9-8D9B-052DD71E66CF}"/>
              </a:ext>
            </a:extLst>
          </p:cNvPr>
          <p:cNvSpPr txBox="1"/>
          <p:nvPr/>
        </p:nvSpPr>
        <p:spPr>
          <a:xfrm>
            <a:off x="8755684" y="3273617"/>
            <a:ext cx="256777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Възможност за оценяване на ястията или обслужването и писане на коментари.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A531766D-3031-7360-A92B-03D7C3F2E154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7" name="Текстово поле 3">
            <a:extLst>
              <a:ext uri="{FF2B5EF4-FFF2-40B4-BE49-F238E27FC236}">
                <a16:creationId xmlns:a16="http://schemas.microsoft.com/office/drawing/2014/main" id="{5AABC4C1-3869-DB69-00D3-F7A553A64EE7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8" name="Текстово поле 3">
            <a:extLst>
              <a:ext uri="{FF2B5EF4-FFF2-40B4-BE49-F238E27FC236}">
                <a16:creationId xmlns:a16="http://schemas.microsoft.com/office/drawing/2014/main" id="{4AEB3053-9B04-D78E-614F-FEBD6498CB7F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309981867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CAAE-90D7-74A0-CC58-0FFBB564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81AA-F605-79E3-A91E-D39C674F02B1}"/>
              </a:ext>
            </a:extLst>
          </p:cNvPr>
          <p:cNvSpPr txBox="1">
            <a:spLocks/>
          </p:cNvSpPr>
          <p:nvPr/>
        </p:nvSpPr>
        <p:spPr>
          <a:xfrm>
            <a:off x="2924175" y="415738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трислойна архитектура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D36C0-131A-B820-8721-E97904C89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601" y="1006400"/>
            <a:ext cx="9968797" cy="5621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412F0B99-86F3-25CD-63EF-CFEC3A1BDB97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7C56A9-7949-84C2-AC61-C1C59F468AD4}"/>
              </a:ext>
            </a:extLst>
          </p:cNvPr>
          <p:cNvCxnSpPr>
            <a:cxnSpLocks/>
          </p:cNvCxnSpPr>
          <p:nvPr/>
        </p:nvCxnSpPr>
        <p:spPr>
          <a:xfrm>
            <a:off x="4014828" y="3817151"/>
            <a:ext cx="1038207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956837-35CA-813B-A444-3412E00F9BC0}"/>
              </a:ext>
            </a:extLst>
          </p:cNvPr>
          <p:cNvCxnSpPr>
            <a:cxnSpLocks/>
          </p:cNvCxnSpPr>
          <p:nvPr/>
        </p:nvCxnSpPr>
        <p:spPr>
          <a:xfrm>
            <a:off x="7102851" y="3816286"/>
            <a:ext cx="1048743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804876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5C1E-84B7-9526-5517-8F2AF91A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6D35ED-4101-075A-1F0D-02685964265B}"/>
              </a:ext>
            </a:extLst>
          </p:cNvPr>
          <p:cNvSpPr/>
          <p:nvPr/>
        </p:nvSpPr>
        <p:spPr>
          <a:xfrm>
            <a:off x="1319212" y="1245544"/>
            <a:ext cx="9553575" cy="5331776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6B3D4C-6DDE-E800-E642-282CABDC9390}"/>
              </a:ext>
            </a:extLst>
          </p:cNvPr>
          <p:cNvSpPr txBox="1">
            <a:spLocks/>
          </p:cNvSpPr>
          <p:nvPr/>
        </p:nvSpPr>
        <p:spPr>
          <a:xfrm>
            <a:off x="2924175" y="221299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Use-case диаграма (клиент)</a:t>
            </a:r>
          </a:p>
        </p:txBody>
      </p:sp>
      <p:pic>
        <p:nvPicPr>
          <p:cNvPr id="7" name="Picture 6" descr="A group of white ovals with black text&#10;&#10;AI-generated content may be incorrect.">
            <a:extLst>
              <a:ext uri="{FF2B5EF4-FFF2-40B4-BE49-F238E27FC236}">
                <a16:creationId xmlns:a16="http://schemas.microsoft.com/office/drawing/2014/main" id="{E7DFDBD7-BA60-1F02-F84C-F32BE778E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611" y="1430169"/>
            <a:ext cx="7724775" cy="4962525"/>
          </a:xfrm>
          <a:prstGeom prst="rect">
            <a:avLst/>
          </a:prstGeom>
        </p:spPr>
      </p:pic>
      <p:sp>
        <p:nvSpPr>
          <p:cNvPr id="17" name="Текстово поле 3">
            <a:extLst>
              <a:ext uri="{FF2B5EF4-FFF2-40B4-BE49-F238E27FC236}">
                <a16:creationId xmlns:a16="http://schemas.microsoft.com/office/drawing/2014/main" id="{71D8A0A3-7B4A-F577-042B-FE0177D9F926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9" name="Текстово поле 3">
            <a:extLst>
              <a:ext uri="{FF2B5EF4-FFF2-40B4-BE49-F238E27FC236}">
                <a16:creationId xmlns:a16="http://schemas.microsoft.com/office/drawing/2014/main" id="{C34F0067-7642-6613-7DB7-99F2EF1783FF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21" name="Текстово поле 3">
            <a:extLst>
              <a:ext uri="{FF2B5EF4-FFF2-40B4-BE49-F238E27FC236}">
                <a16:creationId xmlns:a16="http://schemas.microsoft.com/office/drawing/2014/main" id="{237E4172-9001-F204-5FA5-8AABEA8E46B7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3049342817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BC56-0F58-4691-2018-7D9CFE59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0B8C51-3FE3-95F6-FA2E-5A16D0CF9831}"/>
              </a:ext>
            </a:extLst>
          </p:cNvPr>
          <p:cNvSpPr/>
          <p:nvPr/>
        </p:nvSpPr>
        <p:spPr>
          <a:xfrm>
            <a:off x="1319212" y="1245544"/>
            <a:ext cx="9553575" cy="5331776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315E99-4F46-4E31-E0C1-456443875EE3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Use-case диаграма (администратор)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12D83-D6DC-E117-77DF-6F725D949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7557" y="1430169"/>
            <a:ext cx="6656882" cy="4962525"/>
          </a:xfrm>
          <a:prstGeom prst="rect">
            <a:avLst/>
          </a:prstGeom>
        </p:spPr>
      </p:pic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28704523-2208-1478-DC51-56B38F4988D8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</p:spTree>
    <p:extLst>
      <p:ext uri="{BB962C8B-B14F-4D97-AF65-F5344CB8AC3E}">
        <p14:creationId xmlns:p14="http://schemas.microsoft.com/office/powerpoint/2010/main" val="51583155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08C60-EDE3-87D8-6FFB-48CCE586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03C3D9-ED34-EC29-3A69-3C50D6D534F4}"/>
              </a:ext>
            </a:extLst>
          </p:cNvPr>
          <p:cNvSpPr/>
          <p:nvPr/>
        </p:nvSpPr>
        <p:spPr>
          <a:xfrm>
            <a:off x="1319212" y="1245544"/>
            <a:ext cx="9553575" cy="5331776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42BCB3-82EB-E0C6-D50C-DBDA0AA493F8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Use-case диаграма (персонал)</a:t>
            </a:r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7C7292CA-7F16-A20B-A99E-5FFD6A60AA77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104F2C23-D375-C35C-C1F3-20329646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604" y="1349206"/>
            <a:ext cx="4362790" cy="51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44871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C83C-F4A9-8676-720D-7721FE6B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4B1BC2-18F7-9732-F65C-B48B33035852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диаграма (извършване на поръчка)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F2470C-32E0-E97F-BF2F-E539A6370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3414" y="1497224"/>
            <a:ext cx="3595222" cy="49060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F7895E-4180-1CEF-FC1E-672064367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643" y="1471212"/>
            <a:ext cx="2726946" cy="49580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4DF6C9-16A5-8D70-1486-FC6EC267F8DC}"/>
              </a:ext>
            </a:extLst>
          </p:cNvPr>
          <p:cNvSpPr txBox="1"/>
          <p:nvPr/>
        </p:nvSpPr>
        <p:spPr>
          <a:xfrm>
            <a:off x="2721349" y="1609725"/>
            <a:ext cx="514350" cy="52319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500" b="1" noProof="0" dirty="0">
                <a:solidFill>
                  <a:schemeClr val="bg1"/>
                </a:solidFill>
              </a:rPr>
              <a:t>1.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10C89-84E3-6C8F-C8F3-357CF9B0D23E}"/>
              </a:ext>
            </a:extLst>
          </p:cNvPr>
          <p:cNvSpPr txBox="1"/>
          <p:nvPr/>
        </p:nvSpPr>
        <p:spPr>
          <a:xfrm>
            <a:off x="6979687" y="1609725"/>
            <a:ext cx="514350" cy="52319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500" b="1" noProof="0" dirty="0">
                <a:solidFill>
                  <a:schemeClr val="bg1"/>
                </a:solidFill>
              </a:rPr>
              <a:t>2.</a:t>
            </a:r>
          </a:p>
        </p:txBody>
      </p:sp>
      <p:sp>
        <p:nvSpPr>
          <p:cNvPr id="15" name="Текстово поле 3">
            <a:extLst>
              <a:ext uri="{FF2B5EF4-FFF2-40B4-BE49-F238E27FC236}">
                <a16:creationId xmlns:a16="http://schemas.microsoft.com/office/drawing/2014/main" id="{FD63ADEE-4F82-395E-A2E2-44C47C3C7085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6" name="Текстово поле 3">
            <a:extLst>
              <a:ext uri="{FF2B5EF4-FFF2-40B4-BE49-F238E27FC236}">
                <a16:creationId xmlns:a16="http://schemas.microsoft.com/office/drawing/2014/main" id="{3B412E86-76CE-F4E4-8754-06D0E05CEBBA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7" name="Текстово поле 3">
            <a:extLst>
              <a:ext uri="{FF2B5EF4-FFF2-40B4-BE49-F238E27FC236}">
                <a16:creationId xmlns:a16="http://schemas.microsoft.com/office/drawing/2014/main" id="{57D67C1A-4F5A-FE71-6030-CFBFF78E7BE2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293806256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D31B-D944-E0D6-9186-9CA1277B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FC1DE1-D3BD-7A38-85EA-384763E1ECAD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диаграма (поръчка)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07136652-C6DF-AA49-C90B-0BB5AB1B4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72" y="1389417"/>
            <a:ext cx="7024255" cy="50599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DE60CEE7-5EAB-E61B-4BF5-C236186C43AE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1" name="Текстово поле 3">
            <a:extLst>
              <a:ext uri="{FF2B5EF4-FFF2-40B4-BE49-F238E27FC236}">
                <a16:creationId xmlns:a16="http://schemas.microsoft.com/office/drawing/2014/main" id="{5857F136-13AB-B84F-271A-A015DF8D34AC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5" name="Текстово поле 3">
            <a:extLst>
              <a:ext uri="{FF2B5EF4-FFF2-40B4-BE49-F238E27FC236}">
                <a16:creationId xmlns:a16="http://schemas.microsoft.com/office/drawing/2014/main" id="{A00F44E0-B322-09AE-269F-DFB8099DDCEC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293844731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FD8C-059A-2770-97E0-73272C52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9E8D01-3372-ED79-AC79-3595E7CE60C0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диаграма (Регистрация)</a:t>
            </a:r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B6C82449-6E17-F01B-517A-D4C749A507C9}"/>
              </a:ext>
            </a:extLst>
          </p:cNvPr>
          <p:cNvSpPr txBox="1"/>
          <p:nvPr/>
        </p:nvSpPr>
        <p:spPr>
          <a:xfrm>
            <a:off x="10439400" y="6262130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1DE0C1-811E-EAAC-3D4B-06B65E20B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0287" y="1389417"/>
            <a:ext cx="6931425" cy="5247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3200104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86FC-C4B3-E2B5-2D4E-9B155FD5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7A31-666E-7EC6-F4E9-46FF6E20DE80}"/>
              </a:ext>
            </a:extLst>
          </p:cNvPr>
          <p:cNvSpPr txBox="1">
            <a:spLocks/>
          </p:cNvSpPr>
          <p:nvPr/>
        </p:nvSpPr>
        <p:spPr>
          <a:xfrm>
            <a:off x="2924175" y="221299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прототип</a:t>
            </a:r>
          </a:p>
        </p:txBody>
      </p:sp>
      <p:pic>
        <p:nvPicPr>
          <p:cNvPr id="9" name="Picture 8" descr="A white board with a grid of squares&#10;&#10;AI-generated content may be incorrect.">
            <a:extLst>
              <a:ext uri="{FF2B5EF4-FFF2-40B4-BE49-F238E27FC236}">
                <a16:creationId xmlns:a16="http://schemas.microsoft.com/office/drawing/2014/main" id="{0237E23B-FF5C-60F6-F51A-D25D818A1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6" y="1224844"/>
            <a:ext cx="8804497" cy="54569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Текстово поле 3">
            <a:extLst>
              <a:ext uri="{FF2B5EF4-FFF2-40B4-BE49-F238E27FC236}">
                <a16:creationId xmlns:a16="http://schemas.microsoft.com/office/drawing/2014/main" id="{64790742-1676-1BB4-8BF2-CA8A81FD4E55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1" name="Текстово поле 3">
            <a:extLst>
              <a:ext uri="{FF2B5EF4-FFF2-40B4-BE49-F238E27FC236}">
                <a16:creationId xmlns:a16="http://schemas.microsoft.com/office/drawing/2014/main" id="{295C17A5-73A7-6BE8-5021-C8A960BAED7D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2" name="Текстово поле 3">
            <a:extLst>
              <a:ext uri="{FF2B5EF4-FFF2-40B4-BE49-F238E27FC236}">
                <a16:creationId xmlns:a16="http://schemas.microsoft.com/office/drawing/2014/main" id="{C15C1A7D-6370-03F0-A742-64C5451BB0EA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196088526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FED9-B751-9804-A332-2202A52A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AD2A-90A0-F1DB-25AD-5C037A22746B}"/>
              </a:ext>
            </a:extLst>
          </p:cNvPr>
          <p:cNvSpPr txBox="1">
            <a:spLocks/>
          </p:cNvSpPr>
          <p:nvPr/>
        </p:nvSpPr>
        <p:spPr>
          <a:xfrm>
            <a:off x="2924175" y="221299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прототип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152FB2-DDCC-039C-822B-DF0DE5258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416" y="1408574"/>
            <a:ext cx="8804497" cy="50894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Текстово поле 3">
            <a:extLst>
              <a:ext uri="{FF2B5EF4-FFF2-40B4-BE49-F238E27FC236}">
                <a16:creationId xmlns:a16="http://schemas.microsoft.com/office/drawing/2014/main" id="{52D16E10-47AB-331A-F4C2-C6A89F00EC77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1" name="Текстово поле 3">
            <a:extLst>
              <a:ext uri="{FF2B5EF4-FFF2-40B4-BE49-F238E27FC236}">
                <a16:creationId xmlns:a16="http://schemas.microsoft.com/office/drawing/2014/main" id="{F96EAB95-74C1-D11E-57E5-9C3B5ABF0651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2" name="Текстово поле 3">
            <a:extLst>
              <a:ext uri="{FF2B5EF4-FFF2-40B4-BE49-F238E27FC236}">
                <a16:creationId xmlns:a16="http://schemas.microsoft.com/office/drawing/2014/main" id="{65A7AB4C-D1D5-36E0-D3EF-C8BE61A43E42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3950754122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8934-A406-A028-5612-D4D4AA78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FC1D-C8A5-5CB2-C6F4-C3D5562741C9}"/>
              </a:ext>
            </a:extLst>
          </p:cNvPr>
          <p:cNvSpPr txBox="1">
            <a:spLocks/>
          </p:cNvSpPr>
          <p:nvPr/>
        </p:nvSpPr>
        <p:spPr>
          <a:xfrm>
            <a:off x="2924175" y="221299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прототип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39CC6-94ED-131F-84D8-372BA6D1D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973" y="1408574"/>
            <a:ext cx="8487382" cy="50894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Текстово поле 3">
            <a:extLst>
              <a:ext uri="{FF2B5EF4-FFF2-40B4-BE49-F238E27FC236}">
                <a16:creationId xmlns:a16="http://schemas.microsoft.com/office/drawing/2014/main" id="{4C423DB5-3368-19B5-4239-5114830FD601}"/>
              </a:ext>
            </a:extLst>
          </p:cNvPr>
          <p:cNvSpPr txBox="1"/>
          <p:nvPr/>
        </p:nvSpPr>
        <p:spPr>
          <a:xfrm>
            <a:off x="10186146" y="5427998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Диан Лазаров</a:t>
            </a:r>
          </a:p>
        </p:txBody>
      </p:sp>
      <p:sp>
        <p:nvSpPr>
          <p:cNvPr id="11" name="Текстово поле 3">
            <a:extLst>
              <a:ext uri="{FF2B5EF4-FFF2-40B4-BE49-F238E27FC236}">
                <a16:creationId xmlns:a16="http://schemas.microsoft.com/office/drawing/2014/main" id="{199BC4AD-44CF-4120-185E-16AE167555ED}"/>
              </a:ext>
            </a:extLst>
          </p:cNvPr>
          <p:cNvSpPr txBox="1"/>
          <p:nvPr/>
        </p:nvSpPr>
        <p:spPr>
          <a:xfrm>
            <a:off x="10022538" y="5867590"/>
            <a:ext cx="1917887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Биляна Паунова</a:t>
            </a:r>
          </a:p>
        </p:txBody>
      </p:sp>
      <p:sp>
        <p:nvSpPr>
          <p:cNvPr id="12" name="Текстово поле 3">
            <a:extLst>
              <a:ext uri="{FF2B5EF4-FFF2-40B4-BE49-F238E27FC236}">
                <a16:creationId xmlns:a16="http://schemas.microsoft.com/office/drawing/2014/main" id="{69C51B53-96E9-238B-292D-AC3BA18EF47D}"/>
              </a:ext>
            </a:extLst>
          </p:cNvPr>
          <p:cNvSpPr txBox="1"/>
          <p:nvPr/>
        </p:nvSpPr>
        <p:spPr>
          <a:xfrm>
            <a:off x="10186145" y="6307182"/>
            <a:ext cx="1590675" cy="374571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1600" b="1" noProof="0" dirty="0"/>
              <a:t>Селин Софта</a:t>
            </a:r>
          </a:p>
        </p:txBody>
      </p:sp>
    </p:spTree>
    <p:extLst>
      <p:ext uri="{BB962C8B-B14F-4D97-AF65-F5344CB8AC3E}">
        <p14:creationId xmlns:p14="http://schemas.microsoft.com/office/powerpoint/2010/main" val="87159320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3EBF-2594-83CB-D9D3-CEEA4833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29177"/>
            <a:ext cx="8610600" cy="1293028"/>
          </a:xfrm>
        </p:spPr>
        <p:txBody>
          <a:bodyPr>
            <a:normAutofit/>
          </a:bodyPr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Софтуерна реализация</a:t>
            </a:r>
            <a:endParaRPr lang="bg-BG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2D52-592A-1C10-F9D8-E9ACE3CE9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8553" y="1416937"/>
            <a:ext cx="5334000" cy="4939039"/>
          </a:xfrm>
          <a:prstGeom prst="snip2SameRect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Изчертаване на диаграми: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Draw.io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WebSequenceDiagrams.com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Управление на проекта: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Jira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OnBoard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Прототип на UI: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Balsamiq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B713-9B9D-327F-F549-79CEB590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953" y="1416937"/>
            <a:ext cx="5334000" cy="4939039"/>
          </a:xfrm>
          <a:prstGeom prst="snip2SameRect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447675" indent="-447675">
              <a:buFont typeface="Wingdings" panose="05000000000000000000" pitchFamily="2" charset="2"/>
              <a:buChar char="q"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Изготвяне на документи и презентация: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Word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PowerPoint</a:t>
            </a: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Реализация на приложението и базата от данни: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Visual Studio 2022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MySQL Workbench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b="1" noProof="0" dirty="0">
                <a:solidFill>
                  <a:schemeClr val="tx1"/>
                </a:solidFill>
              </a:rPr>
              <a:t>Технологии: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ASP.NET Core MVC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238365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14CA-E567-AF6F-DCDF-AACA5428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069A-9878-3B69-6154-6002D4B1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29177"/>
            <a:ext cx="8610600" cy="1293028"/>
          </a:xfrm>
        </p:spPr>
        <p:txBody>
          <a:bodyPr>
            <a:normAutofit/>
          </a:bodyPr>
          <a:lstStyle/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Тестване</a:t>
            </a:r>
            <a:endParaRPr lang="bg-BG" sz="5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4C10-F73A-A6A8-D4B1-20C85D799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176" y="1450487"/>
            <a:ext cx="10757647" cy="4939039"/>
          </a:xfrm>
          <a:prstGeom prst="snip2SameRect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endParaRPr lang="bg-BG" sz="3500" b="1" noProof="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bg-BG" sz="3500" b="1" noProof="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bg-BG" sz="3500" b="1" noProof="0" dirty="0">
                <a:solidFill>
                  <a:schemeClr val="tx1"/>
                </a:solidFill>
              </a:rPr>
              <a:t>Първоначално е предвидено приложението да се тества ръчно, а на по-късни етапи ще се премине към автоматизирано тестване.</a:t>
            </a:r>
          </a:p>
        </p:txBody>
      </p:sp>
    </p:spTree>
    <p:extLst>
      <p:ext uri="{BB962C8B-B14F-4D97-AF65-F5344CB8AC3E}">
        <p14:creationId xmlns:p14="http://schemas.microsoft.com/office/powerpoint/2010/main" val="3074097434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7CF8-0950-A026-3ADE-0A90C317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F6031F-5B73-ABD7-A4B1-AE5359B03669}"/>
              </a:ext>
            </a:extLst>
          </p:cNvPr>
          <p:cNvSpPr txBox="1">
            <a:spLocks/>
          </p:cNvSpPr>
          <p:nvPr/>
        </p:nvSpPr>
        <p:spPr>
          <a:xfrm>
            <a:off x="6187440" y="171673"/>
            <a:ext cx="5048250" cy="10650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Екипна работа</a:t>
            </a:r>
            <a:endParaRPr lang="bg-BG" sz="5000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CBE136-54FC-B5B6-28E6-E2732D375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8553" y="1416937"/>
            <a:ext cx="5334000" cy="4939039"/>
          </a:xfrm>
          <a:prstGeom prst="snip2SameRect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Разпределение на работата: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Започнахме малко късно със задачите, но въпреки това успяхме да си ги разпределим равномерно и да ги реализираме в срок.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Комуникация: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Като основна платформа за комуникация използвахме Messenger.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FE0F76D-A99D-F468-7018-DB01F9B3B4FF}"/>
              </a:ext>
            </a:extLst>
          </p:cNvPr>
          <p:cNvSpPr txBox="1">
            <a:spLocks/>
          </p:cNvSpPr>
          <p:nvPr/>
        </p:nvSpPr>
        <p:spPr>
          <a:xfrm>
            <a:off x="6234953" y="1416937"/>
            <a:ext cx="5334000" cy="4939039"/>
          </a:xfrm>
          <a:prstGeom prst="snip2SameRect">
            <a:avLst/>
          </a:prstGeom>
          <a:ln w="38100" cap="flat" cmpd="sng" algn="ctr"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Знания: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Обменяхме си полезни съвети и си помагахме</a:t>
            </a:r>
            <a:r>
              <a:rPr lang="bg-BG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при необходимост</a:t>
            </a: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.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Време: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Не сме огранизирали ежеседмични срещи, но се събрахме, за да обсъдим финалните етапи относно успешното завършване и представяне на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705147754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6807-2337-B91D-EF36-53842032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F482-13E0-4ED8-3EA2-905075CA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4" y="229177"/>
            <a:ext cx="4352365" cy="1293028"/>
          </a:xfrm>
        </p:spPr>
        <p:txBody>
          <a:bodyPr>
            <a:normAutofit/>
          </a:bodyPr>
          <a:lstStyle/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  <a:endParaRPr lang="bg-BG" sz="5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7986-C7C8-6BB1-1ACE-3EDD69D98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176" y="1450487"/>
            <a:ext cx="10757647" cy="4939039"/>
          </a:xfrm>
          <a:prstGeom prst="snip2SameRect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bg-BG" sz="3000" b="1" noProof="0" dirty="0">
                <a:solidFill>
                  <a:schemeClr val="tx1"/>
                </a:solidFill>
              </a:rPr>
              <a:t>Основната цел на проекта е да се разработи уеб-базирано приложение за управление на ресторант, което ще автоматизира ключовите бизнес процеси (разглеждане на менюто онлайн, приемане и обработка на поръчки, резервации, плащания, административни функциии и др.). Чрез внедряването на системата се цели повишена ефективност на работата, подобрено обслужване, намаляване на грешките и улесняване на комуникацията между клиентите, персонала и администрацията.</a:t>
            </a:r>
          </a:p>
        </p:txBody>
      </p:sp>
    </p:spTree>
    <p:extLst>
      <p:ext uri="{BB962C8B-B14F-4D97-AF65-F5344CB8AC3E}">
        <p14:creationId xmlns:p14="http://schemas.microsoft.com/office/powerpoint/2010/main" val="3766272418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99E8B0-31C8-4082-93D3-6A2F408A84CA}"/>
              </a:ext>
            </a:extLst>
          </p:cNvPr>
          <p:cNvSpPr txBox="1">
            <a:spLocks/>
          </p:cNvSpPr>
          <p:nvPr/>
        </p:nvSpPr>
        <p:spPr>
          <a:xfrm>
            <a:off x="4976028" y="965200"/>
            <a:ext cx="6170943" cy="4329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bg-BG" sz="5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Благодарим за вниманието!</a:t>
            </a:r>
            <a:endParaRPr lang="bg-BG" sz="5400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25128BB7-D1A3-4F7F-98A3-10B5DCE1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339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theme/theme1.xml><?xml version="1.0" encoding="utf-8"?>
<a:theme xmlns:a="http://schemas.openxmlformats.org/drawingml/2006/main" name="Vapor Trai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1130</TotalTime>
  <Words>876</Words>
  <Application>Microsoft Office PowerPoint</Application>
  <PresentationFormat>Widescreen</PresentationFormat>
  <Paragraphs>194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Arimo</vt:lpstr>
      <vt:lpstr>Josefin Sans</vt:lpstr>
      <vt:lpstr>Wingdings</vt:lpstr>
      <vt:lpstr>Vapor Trail</vt:lpstr>
      <vt:lpstr>KitchenMasters</vt:lpstr>
      <vt:lpstr>PizzaHub</vt:lpstr>
      <vt:lpstr>PowerPoint Presentation</vt:lpstr>
      <vt:lpstr>Договор</vt:lpstr>
      <vt:lpstr>PowerPoint Presentation</vt:lpstr>
      <vt:lpstr>PowerPoint Presentation</vt:lpstr>
      <vt:lpstr>Договор – права и задължения</vt:lpstr>
      <vt:lpstr>План-бюджет</vt:lpstr>
      <vt:lpstr>Етапи на разработка</vt:lpstr>
      <vt:lpstr>Гант график</vt:lpstr>
      <vt:lpstr>Гант график (Етапи)</vt:lpstr>
      <vt:lpstr>Функционални изисквания</vt:lpstr>
      <vt:lpstr>неФункционални изисквания</vt:lpstr>
      <vt:lpstr>потребителски истории</vt:lpstr>
      <vt:lpstr>система за управление на проекта (jira)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Софтуерна реализация</vt:lpstr>
      <vt:lpstr>Тестване</vt:lpstr>
      <vt:lpstr>PowerPoint Presentation</vt:lpstr>
      <vt:lpstr>Заключение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PizzaHub</dc:title>
  <dc:creator>Dian Lazarov;Bilyana Paunova;Selin Softa</dc:creator>
  <cp:lastModifiedBy>Dian Lazarov</cp:lastModifiedBy>
  <cp:revision>386</cp:revision>
  <dcterms:created xsi:type="dcterms:W3CDTF">2014-12-10T13:31:36Z</dcterms:created>
  <dcterms:modified xsi:type="dcterms:W3CDTF">2025-12-15T19:40:28Z</dcterms:modified>
</cp:coreProperties>
</file>