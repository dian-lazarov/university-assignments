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4"/>
  </p:notesMasterIdLst>
  <p:sldIdLst>
    <p:sldId id="257" r:id="rId2"/>
    <p:sldId id="256" r:id="rId3"/>
    <p:sldId id="294" r:id="rId4"/>
    <p:sldId id="262" r:id="rId5"/>
    <p:sldId id="275" r:id="rId6"/>
    <p:sldId id="276" r:id="rId7"/>
    <p:sldId id="280" r:id="rId8"/>
    <p:sldId id="281" r:id="rId9"/>
    <p:sldId id="282" r:id="rId10"/>
    <p:sldId id="283" r:id="rId11"/>
    <p:sldId id="285" r:id="rId12"/>
    <p:sldId id="287" r:id="rId13"/>
    <p:sldId id="286" r:id="rId14"/>
    <p:sldId id="292" r:id="rId15"/>
    <p:sldId id="293" r:id="rId16"/>
    <p:sldId id="298" r:id="rId17"/>
    <p:sldId id="299" r:id="rId18"/>
    <p:sldId id="300" r:id="rId19"/>
    <p:sldId id="301" r:id="rId20"/>
    <p:sldId id="302" r:id="rId21"/>
    <p:sldId id="303" r:id="rId22"/>
    <p:sldId id="26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04" autoAdjust="0"/>
    <p:restoredTop sz="78935" autoAdjust="0"/>
  </p:normalViewPr>
  <p:slideViewPr>
    <p:cSldViewPr snapToGrid="0">
      <p:cViewPr varScale="1">
        <p:scale>
          <a:sx n="107" d="100"/>
          <a:sy n="107" d="100"/>
        </p:scale>
        <p:origin x="4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6E12BE-7246-4011-A2C9-E340DDDEA050}" type="datetimeFigureOut">
              <a:rPr lang="bg-BG" smtClean="0"/>
              <a:t>21.06.2026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B9224F-4ED7-43C3-AA68-A7ABFA5B977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163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B9224F-4ED7-43C3-AA68-A7ABFA5B9775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93667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30D8309-2CEE-40E7-A9B4-A019F391BE5F}" type="datetimeFigureOut">
              <a:rPr lang="bg-BG" smtClean="0"/>
              <a:t>21.06.2026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58814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21.06.2026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63687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30D8309-2CEE-40E7-A9B4-A019F391BE5F}" type="datetimeFigureOut">
              <a:rPr lang="bg-BG" smtClean="0"/>
              <a:t>21.06.2026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6537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21.06.2026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81314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21.06.2026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72319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21.06.2026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00828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21.06.2026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023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21.06.2026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453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21.06.2026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0758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21.06.2026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22618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30D8309-2CEE-40E7-A9B4-A019F391BE5F}" type="datetimeFigureOut">
              <a:rPr lang="bg-BG" smtClean="0"/>
              <a:t>21.06.2026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13056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30D8309-2CEE-40E7-A9B4-A019F391BE5F}" type="datetimeFigureOut">
              <a:rPr lang="bg-BG" smtClean="0"/>
              <a:t>21.06.2026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2733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30D8309-2CEE-40E7-A9B4-A019F391BE5F}" type="datetimeFigureOut">
              <a:rPr lang="bg-BG" smtClean="0"/>
              <a:t>21.06.2026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92571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21.06.2026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5600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21.06.2026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009923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D8309-2CEE-40E7-A9B4-A019F391BE5F}" type="datetimeFigureOut">
              <a:rPr lang="bg-BG" smtClean="0"/>
              <a:t>21.06.2026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85720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30D8309-2CEE-40E7-A9B4-A019F391BE5F}" type="datetimeFigureOut">
              <a:rPr lang="bg-BG" smtClean="0"/>
              <a:t>21.06.2026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3580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D8309-2CEE-40E7-A9B4-A019F391BE5F}" type="datetimeFigureOut">
              <a:rPr lang="bg-BG" smtClean="0"/>
              <a:t>21.06.2026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811DA-6769-4979-B50D-F40D103A069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148120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bsequencediagrams.com/" TargetMode="External"/><Relationship Id="rId2" Type="http://schemas.openxmlformats.org/officeDocument/2006/relationships/hyperlink" Target="https://app.diagrams.net/" TargetMode="Externa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73624"/>
            <a:ext cx="12192000" cy="1108006"/>
          </a:xfrm>
        </p:spPr>
        <p:txBody>
          <a:bodyPr>
            <a:noAutofit/>
          </a:bodyPr>
          <a:lstStyle/>
          <a:p>
            <a:pPr algn="ctr"/>
            <a:r>
              <a:rPr lang="bg-BG" sz="5400" b="1" cap="none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Уеб приложение за откриване и разглеждане на видеоигри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CD5861A-93DE-C7AE-C254-D81F8E5AF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068602"/>
            <a:ext cx="12192000" cy="720796"/>
          </a:xfrm>
        </p:spPr>
        <p:txBody>
          <a:bodyPr>
            <a:noAutofit/>
          </a:bodyPr>
          <a:lstStyle/>
          <a:p>
            <a:pPr algn="ctr"/>
            <a:r>
              <a:rPr lang="bg-BG" sz="40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Защита на „Курсов проект“</a:t>
            </a:r>
          </a:p>
        </p:txBody>
      </p:sp>
    </p:spTree>
    <p:extLst>
      <p:ext uri="{BB962C8B-B14F-4D97-AF65-F5344CB8AC3E}">
        <p14:creationId xmlns:p14="http://schemas.microsoft.com/office/powerpoint/2010/main" val="2092338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8695EB1-A1B6-C5C2-50D7-46CCEF237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1441659" y="1543049"/>
            <a:ext cx="2662321" cy="266232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24116DB-91C0-335D-18CD-8BCA2B27E064}"/>
              </a:ext>
            </a:extLst>
          </p:cNvPr>
          <p:cNvSpPr txBox="1">
            <a:spLocks/>
          </p:cNvSpPr>
          <p:nvPr/>
        </p:nvSpPr>
        <p:spPr>
          <a:xfrm>
            <a:off x="4103980" y="2303635"/>
            <a:ext cx="4724400" cy="11411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sz="7000" b="1" cap="none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GameHub</a:t>
            </a:r>
          </a:p>
        </p:txBody>
      </p:sp>
    </p:spTree>
    <p:extLst>
      <p:ext uri="{BB962C8B-B14F-4D97-AF65-F5344CB8AC3E}">
        <p14:creationId xmlns:p14="http://schemas.microsoft.com/office/powerpoint/2010/main" val="3585902169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 blue shirt&#10;&#10;AI-generated content may be incorrect.">
            <a:extLst>
              <a:ext uri="{FF2B5EF4-FFF2-40B4-BE49-F238E27FC236}">
                <a16:creationId xmlns:a16="http://schemas.microsoft.com/office/drawing/2014/main" id="{9CDB7E64-595C-B410-73E4-606C83EC15A7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585" y="1099770"/>
            <a:ext cx="2486830" cy="248576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04D742-4ABF-143E-A824-13DD5A80BDB4}"/>
              </a:ext>
            </a:extLst>
          </p:cNvPr>
          <p:cNvSpPr txBox="1">
            <a:spLocks/>
          </p:cNvSpPr>
          <p:nvPr/>
        </p:nvSpPr>
        <p:spPr>
          <a:xfrm>
            <a:off x="4358895" y="3704663"/>
            <a:ext cx="3474209" cy="2485768"/>
          </a:xfrm>
          <a:prstGeom prst="roundRect">
            <a:avLst/>
          </a:prstGeom>
          <a:solidFill>
            <a:schemeClr val="tx2">
              <a:lumMod val="25000"/>
            </a:schemeClr>
          </a:solidFill>
          <a:ln w="38100">
            <a:solidFill>
              <a:schemeClr val="accent1"/>
            </a:solidFill>
          </a:ln>
          <a:effectLst/>
        </p:spPr>
        <p:txBody>
          <a:bodyPr wrap="square" rtlCol="0">
            <a:noAutofit/>
          </a:bodyPr>
          <a:lstStyle/>
          <a:p>
            <a:pPr algn="ctr"/>
            <a:r>
              <a:rPr lang="bg-BG" sz="22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Диан Лазаров</a:t>
            </a:r>
          </a:p>
          <a:p>
            <a:pPr algn="ctr"/>
            <a:r>
              <a:rPr lang="bg-BG" sz="1600" b="1" noProof="0" dirty="0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Manager | Developer</a:t>
            </a:r>
          </a:p>
          <a:p>
            <a:pPr algn="just"/>
            <a:endParaRPr lang="bg-BG" sz="1500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600"/>
              </a:spcAft>
            </a:pPr>
            <a:r>
              <a:rPr lang="bg-BG" sz="1500" noProof="0" dirty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Студент в РУ „Ангел Кънчев“:</a:t>
            </a:r>
          </a:p>
          <a:p>
            <a:pPr marL="538163" lvl="1" indent="-285750" algn="just">
              <a:buFont typeface="Wingdings" panose="05000000000000000000" pitchFamily="2" charset="2"/>
              <a:buChar char="v"/>
            </a:pPr>
            <a:r>
              <a:rPr lang="bg-BG" sz="1600" noProof="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Фак. № 233078</a:t>
            </a:r>
          </a:p>
          <a:p>
            <a:pPr marL="538163" lvl="1" indent="-285750" algn="just">
              <a:buFont typeface="Wingdings" panose="05000000000000000000" pitchFamily="2" charset="2"/>
              <a:buChar char="v"/>
            </a:pPr>
            <a:r>
              <a:rPr lang="bg-BG" sz="1600" noProof="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Група: 26А</a:t>
            </a:r>
          </a:p>
          <a:p>
            <a:pPr marL="538163" lvl="1" indent="-285750" algn="just">
              <a:buFont typeface="Wingdings" panose="05000000000000000000" pitchFamily="2" charset="2"/>
              <a:buChar char="v"/>
            </a:pPr>
            <a:r>
              <a:rPr lang="bg-BG" sz="1600" noProof="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Специалност: КСТ</a:t>
            </a:r>
          </a:p>
          <a:p>
            <a:pPr marL="538163" lvl="1" indent="-285750" algn="just">
              <a:buFont typeface="Wingdings" panose="05000000000000000000" pitchFamily="2" charset="2"/>
              <a:buChar char="v"/>
            </a:pPr>
            <a:r>
              <a:rPr lang="bg-BG" sz="1600" noProof="0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Курс: 3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8FBDA90-E3B9-3545-8497-16BCBBDA51C2}"/>
              </a:ext>
            </a:extLst>
          </p:cNvPr>
          <p:cNvSpPr txBox="1">
            <a:spLocks/>
          </p:cNvSpPr>
          <p:nvPr/>
        </p:nvSpPr>
        <p:spPr>
          <a:xfrm>
            <a:off x="6487588" y="415565"/>
            <a:ext cx="4529023" cy="684205"/>
          </a:xfrm>
          <a:prstGeom prst="rect">
            <a:avLst/>
          </a:prstGeom>
        </p:spPr>
        <p:txBody>
          <a:bodyPr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sz="50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Нашият Екип</a:t>
            </a:r>
          </a:p>
        </p:txBody>
      </p:sp>
    </p:spTree>
    <p:extLst>
      <p:ext uri="{BB962C8B-B14F-4D97-AF65-F5344CB8AC3E}">
        <p14:creationId xmlns:p14="http://schemas.microsoft.com/office/powerpoint/2010/main" val="3744172921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C63EEBD-73CD-E87C-6495-729904CFB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7230" y="497379"/>
            <a:ext cx="6330508" cy="824915"/>
          </a:xfrm>
        </p:spPr>
        <p:txBody>
          <a:bodyPr>
            <a:normAutofit/>
          </a:bodyPr>
          <a:lstStyle/>
          <a:p>
            <a:pPr algn="r"/>
            <a:r>
              <a:rPr lang="bg-BG" sz="45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Етапи на разработка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C05B8F3-DD55-23E8-0132-2D8E0217EE7C}"/>
              </a:ext>
            </a:extLst>
          </p:cNvPr>
          <p:cNvGrpSpPr/>
          <p:nvPr/>
        </p:nvGrpSpPr>
        <p:grpSpPr>
          <a:xfrm>
            <a:off x="924172" y="2454461"/>
            <a:ext cx="1875546" cy="968194"/>
            <a:chOff x="1068584" y="2494636"/>
            <a:chExt cx="977224" cy="700825"/>
          </a:xfrm>
        </p:grpSpPr>
        <p:sp>
          <p:nvSpPr>
            <p:cNvPr id="12" name="Google Shape;1178;p65">
              <a:extLst>
                <a:ext uri="{FF2B5EF4-FFF2-40B4-BE49-F238E27FC236}">
                  <a16:creationId xmlns:a16="http://schemas.microsoft.com/office/drawing/2014/main" id="{201287AE-478E-F971-CCA0-BE4E7B385637}"/>
                </a:ext>
              </a:extLst>
            </p:cNvPr>
            <p:cNvSpPr txBox="1"/>
            <p:nvPr/>
          </p:nvSpPr>
          <p:spPr>
            <a:xfrm>
              <a:off x="1068584" y="2800661"/>
              <a:ext cx="977224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2000" b="1" noProof="0" dirty="0">
                  <a:solidFill>
                    <a:schemeClr val="accent1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Arimo"/>
                  <a:cs typeface="Arimo"/>
                  <a:sym typeface="Arimo"/>
                </a:rPr>
                <a:t>Анализ и планиране</a:t>
              </a:r>
            </a:p>
          </p:txBody>
        </p:sp>
        <p:sp>
          <p:nvSpPr>
            <p:cNvPr id="13" name="Google Shape;1179;p65">
              <a:extLst>
                <a:ext uri="{FF2B5EF4-FFF2-40B4-BE49-F238E27FC236}">
                  <a16:creationId xmlns:a16="http://schemas.microsoft.com/office/drawing/2014/main" id="{C3AE9238-6378-D97C-8272-5929DEB98ADE}"/>
                </a:ext>
              </a:extLst>
            </p:cNvPr>
            <p:cNvSpPr txBox="1"/>
            <p:nvPr/>
          </p:nvSpPr>
          <p:spPr>
            <a:xfrm>
              <a:off x="1068585" y="2494636"/>
              <a:ext cx="977222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3000" b="1" noProof="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Josefin Sans"/>
                  <a:cs typeface="Josefin Sans"/>
                  <a:sym typeface="Josefin Sans"/>
                </a:rPr>
                <a:t>#1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47E4ADF-E6EE-F999-BE9C-8EFF6338D8E5}"/>
              </a:ext>
            </a:extLst>
          </p:cNvPr>
          <p:cNvGrpSpPr/>
          <p:nvPr/>
        </p:nvGrpSpPr>
        <p:grpSpPr>
          <a:xfrm>
            <a:off x="3189777" y="2460812"/>
            <a:ext cx="1833458" cy="968192"/>
            <a:chOff x="1118925" y="2494636"/>
            <a:chExt cx="977222" cy="700825"/>
          </a:xfrm>
        </p:grpSpPr>
        <p:sp>
          <p:nvSpPr>
            <p:cNvPr id="16" name="Google Shape;1178;p65">
              <a:extLst>
                <a:ext uri="{FF2B5EF4-FFF2-40B4-BE49-F238E27FC236}">
                  <a16:creationId xmlns:a16="http://schemas.microsoft.com/office/drawing/2014/main" id="{C847FA49-DD75-2296-74E3-5E4CDD42F4AB}"/>
                </a:ext>
              </a:extLst>
            </p:cNvPr>
            <p:cNvSpPr txBox="1"/>
            <p:nvPr/>
          </p:nvSpPr>
          <p:spPr>
            <a:xfrm>
              <a:off x="1118925" y="2800661"/>
              <a:ext cx="977221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2000" b="1" noProof="0" dirty="0">
                  <a:solidFill>
                    <a:schemeClr val="accent1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Arimo"/>
                  <a:cs typeface="Arimo"/>
                  <a:sym typeface="Arimo"/>
                </a:rPr>
                <a:t>Проектиране</a:t>
              </a:r>
            </a:p>
          </p:txBody>
        </p:sp>
        <p:sp>
          <p:nvSpPr>
            <p:cNvPr id="17" name="Google Shape;1179;p65">
              <a:extLst>
                <a:ext uri="{FF2B5EF4-FFF2-40B4-BE49-F238E27FC236}">
                  <a16:creationId xmlns:a16="http://schemas.microsoft.com/office/drawing/2014/main" id="{18C17C42-AAB6-1607-981D-1B1E616C4882}"/>
                </a:ext>
              </a:extLst>
            </p:cNvPr>
            <p:cNvSpPr txBox="1"/>
            <p:nvPr/>
          </p:nvSpPr>
          <p:spPr>
            <a:xfrm>
              <a:off x="1118925" y="2494636"/>
              <a:ext cx="977222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3000" b="1" noProof="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Josefin Sans"/>
                  <a:cs typeface="Josefin Sans"/>
                  <a:sym typeface="Josefin Sans"/>
                </a:rPr>
                <a:t>#2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FA147A5-6272-358B-5B30-626CBE3D54BD}"/>
              </a:ext>
            </a:extLst>
          </p:cNvPr>
          <p:cNvGrpSpPr/>
          <p:nvPr/>
        </p:nvGrpSpPr>
        <p:grpSpPr>
          <a:xfrm>
            <a:off x="5307230" y="2461975"/>
            <a:ext cx="1917437" cy="968189"/>
            <a:chOff x="1093153" y="2494636"/>
            <a:chExt cx="1021983" cy="700825"/>
          </a:xfrm>
        </p:grpSpPr>
        <p:sp>
          <p:nvSpPr>
            <p:cNvPr id="20" name="Google Shape;1178;p65">
              <a:extLst>
                <a:ext uri="{FF2B5EF4-FFF2-40B4-BE49-F238E27FC236}">
                  <a16:creationId xmlns:a16="http://schemas.microsoft.com/office/drawing/2014/main" id="{27EF036C-AB72-A98E-BCF6-89AB73508126}"/>
                </a:ext>
              </a:extLst>
            </p:cNvPr>
            <p:cNvSpPr txBox="1"/>
            <p:nvPr/>
          </p:nvSpPr>
          <p:spPr>
            <a:xfrm>
              <a:off x="1093153" y="2800661"/>
              <a:ext cx="1021983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2000" b="1" noProof="0" dirty="0">
                  <a:solidFill>
                    <a:schemeClr val="accent1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Arimo"/>
                  <a:cs typeface="Arimo"/>
                  <a:sym typeface="Arimo"/>
                </a:rPr>
                <a:t>Реализация</a:t>
              </a:r>
            </a:p>
          </p:txBody>
        </p:sp>
        <p:sp>
          <p:nvSpPr>
            <p:cNvPr id="21" name="Google Shape;1179;p65">
              <a:extLst>
                <a:ext uri="{FF2B5EF4-FFF2-40B4-BE49-F238E27FC236}">
                  <a16:creationId xmlns:a16="http://schemas.microsoft.com/office/drawing/2014/main" id="{7847D8FE-D95C-1EC9-82C7-77CCD9B75BAB}"/>
                </a:ext>
              </a:extLst>
            </p:cNvPr>
            <p:cNvSpPr txBox="1"/>
            <p:nvPr/>
          </p:nvSpPr>
          <p:spPr>
            <a:xfrm>
              <a:off x="1118925" y="2494636"/>
              <a:ext cx="977222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3000" b="1" noProof="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Josefin Sans"/>
                  <a:cs typeface="Josefin Sans"/>
                  <a:sym typeface="Josefin Sans"/>
                </a:rPr>
                <a:t>#3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99AF108-A441-76E3-9BE4-98F8CF97B22A}"/>
              </a:ext>
            </a:extLst>
          </p:cNvPr>
          <p:cNvGrpSpPr/>
          <p:nvPr/>
        </p:nvGrpSpPr>
        <p:grpSpPr>
          <a:xfrm>
            <a:off x="7062129" y="2460812"/>
            <a:ext cx="1833458" cy="968188"/>
            <a:chOff x="1118925" y="2494636"/>
            <a:chExt cx="977222" cy="700825"/>
          </a:xfrm>
        </p:grpSpPr>
        <p:sp>
          <p:nvSpPr>
            <p:cNvPr id="24" name="Google Shape;1178;p65">
              <a:extLst>
                <a:ext uri="{FF2B5EF4-FFF2-40B4-BE49-F238E27FC236}">
                  <a16:creationId xmlns:a16="http://schemas.microsoft.com/office/drawing/2014/main" id="{82D9854A-C404-C4E0-B61E-FE5A1CC118CD}"/>
                </a:ext>
              </a:extLst>
            </p:cNvPr>
            <p:cNvSpPr txBox="1"/>
            <p:nvPr/>
          </p:nvSpPr>
          <p:spPr>
            <a:xfrm>
              <a:off x="1118925" y="2800661"/>
              <a:ext cx="977221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2000" b="1" noProof="0" dirty="0">
                  <a:solidFill>
                    <a:schemeClr val="accent1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Arimo"/>
                  <a:cs typeface="Arimo"/>
                  <a:sym typeface="Arimo"/>
                </a:rPr>
                <a:t>Тестване</a:t>
              </a:r>
            </a:p>
          </p:txBody>
        </p:sp>
        <p:sp>
          <p:nvSpPr>
            <p:cNvPr id="25" name="Google Shape;1179;p65">
              <a:extLst>
                <a:ext uri="{FF2B5EF4-FFF2-40B4-BE49-F238E27FC236}">
                  <a16:creationId xmlns:a16="http://schemas.microsoft.com/office/drawing/2014/main" id="{32171577-7C1A-10F4-AC82-F5DC577AA383}"/>
                </a:ext>
              </a:extLst>
            </p:cNvPr>
            <p:cNvSpPr txBox="1"/>
            <p:nvPr/>
          </p:nvSpPr>
          <p:spPr>
            <a:xfrm>
              <a:off x="1118925" y="2494636"/>
              <a:ext cx="977222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3000" b="1" noProof="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Josefin Sans"/>
                  <a:cs typeface="Josefin Sans"/>
                  <a:sym typeface="Josefin Sans"/>
                </a:rPr>
                <a:t>#4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5A934C-B38C-91C0-FF9A-DD880567F5DB}"/>
              </a:ext>
            </a:extLst>
          </p:cNvPr>
          <p:cNvGrpSpPr/>
          <p:nvPr/>
        </p:nvGrpSpPr>
        <p:grpSpPr>
          <a:xfrm>
            <a:off x="8979566" y="2461976"/>
            <a:ext cx="2121570" cy="968188"/>
            <a:chOff x="1028806" y="2494636"/>
            <a:chExt cx="1130784" cy="700825"/>
          </a:xfrm>
        </p:grpSpPr>
        <p:sp>
          <p:nvSpPr>
            <p:cNvPr id="28" name="Google Shape;1178;p65">
              <a:extLst>
                <a:ext uri="{FF2B5EF4-FFF2-40B4-BE49-F238E27FC236}">
                  <a16:creationId xmlns:a16="http://schemas.microsoft.com/office/drawing/2014/main" id="{8734340D-07F9-0259-2A42-0065BC992291}"/>
                </a:ext>
              </a:extLst>
            </p:cNvPr>
            <p:cNvSpPr txBox="1"/>
            <p:nvPr/>
          </p:nvSpPr>
          <p:spPr>
            <a:xfrm>
              <a:off x="1028806" y="2800661"/>
              <a:ext cx="1130784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2000" b="1" noProof="0" dirty="0">
                  <a:solidFill>
                    <a:schemeClr val="accent1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Arimo"/>
                  <a:cs typeface="Arimo"/>
                  <a:sym typeface="Arimo"/>
                </a:rPr>
                <a:t>Внедряване и поддръжка</a:t>
              </a:r>
            </a:p>
          </p:txBody>
        </p:sp>
        <p:sp>
          <p:nvSpPr>
            <p:cNvPr id="29" name="Google Shape;1179;p65">
              <a:extLst>
                <a:ext uri="{FF2B5EF4-FFF2-40B4-BE49-F238E27FC236}">
                  <a16:creationId xmlns:a16="http://schemas.microsoft.com/office/drawing/2014/main" id="{6376D1B3-88A4-CB7C-4E13-3E6FB7C0D0ED}"/>
                </a:ext>
              </a:extLst>
            </p:cNvPr>
            <p:cNvSpPr txBox="1"/>
            <p:nvPr/>
          </p:nvSpPr>
          <p:spPr>
            <a:xfrm>
              <a:off x="1118925" y="2494636"/>
              <a:ext cx="977222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bg-BG" sz="3000" b="1" noProof="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Josefin Sans"/>
                  <a:cs typeface="Josefin Sans"/>
                  <a:sym typeface="Josefin Sans"/>
                </a:rPr>
                <a:t>#5</a:t>
              </a:r>
            </a:p>
          </p:txBody>
        </p:sp>
      </p:grpSp>
      <p:cxnSp>
        <p:nvCxnSpPr>
          <p:cNvPr id="47" name="Google Shape;1198;p65">
            <a:extLst>
              <a:ext uri="{FF2B5EF4-FFF2-40B4-BE49-F238E27FC236}">
                <a16:creationId xmlns:a16="http://schemas.microsoft.com/office/drawing/2014/main" id="{41D87A12-AB3F-06BB-E254-B7F88944ED3B}"/>
              </a:ext>
            </a:extLst>
          </p:cNvPr>
          <p:cNvCxnSpPr>
            <a:cxnSpLocks/>
          </p:cNvCxnSpPr>
          <p:nvPr/>
        </p:nvCxnSpPr>
        <p:spPr>
          <a:xfrm flipH="1">
            <a:off x="6898862" y="2727170"/>
            <a:ext cx="459259" cy="6349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headEnd type="arrow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Google Shape;1198;p65">
            <a:extLst>
              <a:ext uri="{FF2B5EF4-FFF2-40B4-BE49-F238E27FC236}">
                <a16:creationId xmlns:a16="http://schemas.microsoft.com/office/drawing/2014/main" id="{EE2CB693-3F3B-5C33-38A7-874FC40B890E}"/>
              </a:ext>
            </a:extLst>
          </p:cNvPr>
          <p:cNvCxnSpPr>
            <a:cxnSpLocks/>
          </p:cNvCxnSpPr>
          <p:nvPr/>
        </p:nvCxnSpPr>
        <p:spPr>
          <a:xfrm flipH="1">
            <a:off x="8732319" y="2733519"/>
            <a:ext cx="459259" cy="6349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headEnd type="arrow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Google Shape;1198;p65">
            <a:extLst>
              <a:ext uri="{FF2B5EF4-FFF2-40B4-BE49-F238E27FC236}">
                <a16:creationId xmlns:a16="http://schemas.microsoft.com/office/drawing/2014/main" id="{5BC4C912-D803-7443-A9D8-E248FD8E503F}"/>
              </a:ext>
            </a:extLst>
          </p:cNvPr>
          <p:cNvCxnSpPr>
            <a:cxnSpLocks/>
          </p:cNvCxnSpPr>
          <p:nvPr/>
        </p:nvCxnSpPr>
        <p:spPr>
          <a:xfrm flipH="1">
            <a:off x="5006922" y="2720821"/>
            <a:ext cx="459259" cy="6349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headEnd type="arrow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Google Shape;1198;p65">
            <a:extLst>
              <a:ext uri="{FF2B5EF4-FFF2-40B4-BE49-F238E27FC236}">
                <a16:creationId xmlns:a16="http://schemas.microsoft.com/office/drawing/2014/main" id="{6F25F273-FC87-CE46-961E-7BF898179BCA}"/>
              </a:ext>
            </a:extLst>
          </p:cNvPr>
          <p:cNvCxnSpPr>
            <a:cxnSpLocks/>
          </p:cNvCxnSpPr>
          <p:nvPr/>
        </p:nvCxnSpPr>
        <p:spPr>
          <a:xfrm flipH="1">
            <a:off x="2741440" y="2714472"/>
            <a:ext cx="459259" cy="6349"/>
          </a:xfrm>
          <a:prstGeom prst="straightConnector1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headEnd type="arrow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813813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EFE18-1FDE-FACA-6DCF-119F41DA8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599" y="351996"/>
            <a:ext cx="8704729" cy="1293028"/>
          </a:xfrm>
        </p:spPr>
        <p:txBody>
          <a:bodyPr/>
          <a:lstStyle/>
          <a:p>
            <a:r>
              <a:rPr lang="bg-BG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Функционални изисквания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4871B-9AF0-98D6-A75E-0259EF50B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88141"/>
            <a:ext cx="10914529" cy="4820191"/>
          </a:xfrm>
        </p:spPr>
        <p:txBody>
          <a:bodyPr>
            <a:noAutofit/>
          </a:bodyPr>
          <a:lstStyle/>
          <a:p>
            <a:r>
              <a:rPr lang="bg-BG" sz="2400" noProof="0" dirty="0"/>
              <a:t>Потребителите ще имат възможност да разглеждат списък с игри (game cards) при отваряне на началния екран на приложението.</a:t>
            </a:r>
          </a:p>
          <a:p>
            <a:r>
              <a:rPr lang="bg-BG" sz="2400" noProof="0" dirty="0"/>
              <a:t>Потребителите ще могат да търсят игри по име чрез поле за търсене (search bar).</a:t>
            </a:r>
          </a:p>
          <a:p>
            <a:r>
              <a:rPr lang="bg-BG" sz="2400" noProof="0" dirty="0"/>
              <a:t>Потребителите ще могат да филтрират списъка с игри по жанр и/или платформа.</a:t>
            </a:r>
          </a:p>
          <a:p>
            <a:r>
              <a:rPr lang="bg-BG" sz="2400" noProof="0" dirty="0"/>
              <a:t>Потребителите ще могат да сортират списъка с игри по различни критерии (име, актуалност, дата на излизане, популярност и др.).</a:t>
            </a:r>
          </a:p>
          <a:p>
            <a:r>
              <a:rPr lang="bg-BG" sz="2400" noProof="0" dirty="0"/>
              <a:t>Потребителите ще могат да разглеждат детайлен изглед за избрана игра.</a:t>
            </a:r>
          </a:p>
          <a:p>
            <a:r>
              <a:rPr lang="bg-BG" sz="2400" noProof="0" dirty="0"/>
              <a:t>Потребителите ще получават визуална индикация при зареждане на данните (loading skeletons).</a:t>
            </a:r>
          </a:p>
          <a:p>
            <a:r>
              <a:rPr lang="bg-BG" sz="2400" noProof="0" dirty="0"/>
              <a:t>Потребителите ще могат да превключват визуалната тема (Dark/Light Mode).</a:t>
            </a:r>
          </a:p>
        </p:txBody>
      </p:sp>
    </p:spTree>
    <p:extLst>
      <p:ext uri="{BB962C8B-B14F-4D97-AF65-F5344CB8AC3E}">
        <p14:creationId xmlns:p14="http://schemas.microsoft.com/office/powerpoint/2010/main" val="1741075961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11BAE-3E6B-6739-3B62-6233F3772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D4375-A57B-3767-7818-A296427B5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51996"/>
            <a:ext cx="8610600" cy="1293028"/>
          </a:xfrm>
        </p:spPr>
        <p:txBody>
          <a:bodyPr/>
          <a:lstStyle/>
          <a:p>
            <a:r>
              <a:rPr lang="bg-BG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неФункционални изисквания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B960B-4D3D-1611-59EC-F396A3DB2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88141"/>
            <a:ext cx="10820400" cy="4820191"/>
          </a:xfrm>
        </p:spPr>
        <p:txBody>
          <a:bodyPr>
            <a:noAutofit/>
          </a:bodyPr>
          <a:lstStyle/>
          <a:p>
            <a:r>
              <a:rPr lang="bg-BG" sz="2360" noProof="0" dirty="0"/>
              <a:t>Приложението трябва да поддържа паралелна употреба от поне 100 потребители.</a:t>
            </a:r>
          </a:p>
          <a:p>
            <a:r>
              <a:rPr lang="bg-BG" sz="2360" noProof="0" dirty="0"/>
              <a:t>Времето за извличане и зареждане на данните не трябва да надвишава 2-3 секунди.</a:t>
            </a:r>
          </a:p>
          <a:p>
            <a:r>
              <a:rPr lang="bg-BG" sz="2360" noProof="0" dirty="0"/>
              <a:t>Приложението трябва да бъде достъпно през стандартни уеб браузъри.</a:t>
            </a:r>
          </a:p>
          <a:p>
            <a:r>
              <a:rPr lang="bg-BG" sz="2360" noProof="0" dirty="0"/>
              <a:t>Организацията на компонентите трябва да позволява лесно добавяне на нови функционалности, без да се налага промяна на вече съществуващ код.</a:t>
            </a:r>
          </a:p>
          <a:p>
            <a:r>
              <a:rPr lang="bg-BG" sz="2360" noProof="0" dirty="0"/>
              <a:t>Системата трябва редовно да прави резервни копия (backup) на данните и да може да ги възстановява при срив.</a:t>
            </a:r>
          </a:p>
          <a:p>
            <a:r>
              <a:rPr lang="bg-BG" sz="2360" noProof="0" dirty="0"/>
              <a:t>Потребителският интерфейс трябва да бъде лесен за използване и да има адаптивен (responsive) дизайн, който се променя в зависимост от размера на устройството.</a:t>
            </a:r>
          </a:p>
        </p:txBody>
      </p:sp>
    </p:spTree>
    <p:extLst>
      <p:ext uri="{BB962C8B-B14F-4D97-AF65-F5344CB8AC3E}">
        <p14:creationId xmlns:p14="http://schemas.microsoft.com/office/powerpoint/2010/main" val="3840304639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FDDA7-6A0C-1DE1-30EA-D630C48A4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835ABDE3-7284-51C0-3D03-C3C6006D5535}"/>
              </a:ext>
            </a:extLst>
          </p:cNvPr>
          <p:cNvSpPr txBox="1"/>
          <p:nvPr/>
        </p:nvSpPr>
        <p:spPr>
          <a:xfrm>
            <a:off x="724444" y="3221414"/>
            <a:ext cx="246371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bg-BG" sz="1750" noProof="0" dirty="0"/>
              <a:t>Списък с игри (game cards)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bg-BG" sz="1750" noProof="0" dirty="0"/>
              <a:t>Поле за търсене (search bar)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bg-BG" sz="1750" noProof="0" dirty="0"/>
              <a:t>Опции за филтриране и сортиране на игрите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D80AC3-5B99-921E-66CE-D0FE1C662B12}"/>
              </a:ext>
            </a:extLst>
          </p:cNvPr>
          <p:cNvSpPr txBox="1">
            <a:spLocks/>
          </p:cNvSpPr>
          <p:nvPr/>
        </p:nvSpPr>
        <p:spPr>
          <a:xfrm>
            <a:off x="2924175" y="415738"/>
            <a:ext cx="861060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bg-BG" sz="4500" b="1" noProof="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258AC70-1424-BC66-92EC-D78637D7A7C5}"/>
              </a:ext>
            </a:extLst>
          </p:cNvPr>
          <p:cNvSpPr txBox="1">
            <a:spLocks/>
          </p:cNvSpPr>
          <p:nvPr/>
        </p:nvSpPr>
        <p:spPr>
          <a:xfrm>
            <a:off x="5348287" y="415738"/>
            <a:ext cx="5886450" cy="61594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b="1" cap="none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MoSCoW приоритизация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0B009B-C211-841A-325E-247360F150DA}"/>
              </a:ext>
            </a:extLst>
          </p:cNvPr>
          <p:cNvSpPr/>
          <p:nvPr/>
        </p:nvSpPr>
        <p:spPr>
          <a:xfrm>
            <a:off x="742950" y="1209675"/>
            <a:ext cx="2453566" cy="1885950"/>
          </a:xfrm>
          <a:prstGeom prst="roundRect">
            <a:avLst/>
          </a:prstGeom>
          <a:solidFill>
            <a:schemeClr val="accent6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4000" b="1" noProof="0" dirty="0">
                <a:solidFill>
                  <a:schemeClr val="bg1"/>
                </a:solidFill>
              </a:rPr>
              <a:t>MUST</a:t>
            </a:r>
          </a:p>
          <a:p>
            <a:pPr algn="ctr"/>
            <a:r>
              <a:rPr lang="bg-BG" sz="4000" b="1" noProof="0" dirty="0">
                <a:solidFill>
                  <a:schemeClr val="bg1"/>
                </a:solidFill>
              </a:rPr>
              <a:t>HAVE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71587A-413D-52C5-E6E6-AC3271C5B07C}"/>
              </a:ext>
            </a:extLst>
          </p:cNvPr>
          <p:cNvSpPr/>
          <p:nvPr/>
        </p:nvSpPr>
        <p:spPr>
          <a:xfrm>
            <a:off x="3467100" y="1209675"/>
            <a:ext cx="2453566" cy="1885950"/>
          </a:xfrm>
          <a:prstGeom prst="roundRect">
            <a:avLst/>
          </a:prstGeom>
          <a:solidFill>
            <a:srgbClr val="92D050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4000" b="1" noProof="0" dirty="0">
                <a:solidFill>
                  <a:schemeClr val="bg1"/>
                </a:solidFill>
              </a:rPr>
              <a:t>SHOULD</a:t>
            </a:r>
          </a:p>
          <a:p>
            <a:pPr algn="ctr"/>
            <a:r>
              <a:rPr lang="bg-BG" sz="4000" b="1" noProof="0" dirty="0">
                <a:solidFill>
                  <a:schemeClr val="bg1"/>
                </a:solidFill>
              </a:rPr>
              <a:t>HAVE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F4427D-5150-EE73-6A70-85D2909ED17C}"/>
              </a:ext>
            </a:extLst>
          </p:cNvPr>
          <p:cNvSpPr/>
          <p:nvPr/>
        </p:nvSpPr>
        <p:spPr>
          <a:xfrm>
            <a:off x="6191250" y="1209675"/>
            <a:ext cx="2453566" cy="1885950"/>
          </a:xfrm>
          <a:prstGeom prst="roundRect">
            <a:avLst/>
          </a:prstGeom>
          <a:solidFill>
            <a:srgbClr val="FFC000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4000" b="1" noProof="0" dirty="0">
                <a:solidFill>
                  <a:schemeClr val="bg1"/>
                </a:solidFill>
              </a:rPr>
              <a:t>COULD</a:t>
            </a:r>
          </a:p>
          <a:p>
            <a:pPr algn="ctr"/>
            <a:r>
              <a:rPr lang="bg-BG" sz="4000" b="1" noProof="0" dirty="0">
                <a:solidFill>
                  <a:schemeClr val="bg1"/>
                </a:solidFill>
              </a:rPr>
              <a:t>HAVE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D5B5953-D667-6160-370F-1333991DDA28}"/>
              </a:ext>
            </a:extLst>
          </p:cNvPr>
          <p:cNvSpPr/>
          <p:nvPr/>
        </p:nvSpPr>
        <p:spPr>
          <a:xfrm>
            <a:off x="8915400" y="1209675"/>
            <a:ext cx="2453566" cy="1885950"/>
          </a:xfrm>
          <a:prstGeom prst="roundRect">
            <a:avLst/>
          </a:prstGeom>
          <a:solidFill>
            <a:srgbClr val="C00000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4000" b="1" noProof="0" dirty="0">
                <a:solidFill>
                  <a:schemeClr val="bg1"/>
                </a:solidFill>
              </a:rPr>
              <a:t>WON’T</a:t>
            </a:r>
          </a:p>
          <a:p>
            <a:pPr algn="ctr"/>
            <a:r>
              <a:rPr lang="bg-BG" sz="4000" b="1" noProof="0" dirty="0">
                <a:solidFill>
                  <a:schemeClr val="bg1"/>
                </a:solidFill>
              </a:rPr>
              <a:t>HAVE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4851878-5DE3-1FC1-266C-670376BAB548}"/>
              </a:ext>
            </a:extLst>
          </p:cNvPr>
          <p:cNvCxnSpPr>
            <a:cxnSpLocks/>
          </p:cNvCxnSpPr>
          <p:nvPr/>
        </p:nvCxnSpPr>
        <p:spPr>
          <a:xfrm>
            <a:off x="3324225" y="3095625"/>
            <a:ext cx="0" cy="346710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AF7F739-0F9A-4664-6AC7-1CAA3137BE70}"/>
              </a:ext>
            </a:extLst>
          </p:cNvPr>
          <p:cNvCxnSpPr>
            <a:cxnSpLocks/>
          </p:cNvCxnSpPr>
          <p:nvPr/>
        </p:nvCxnSpPr>
        <p:spPr>
          <a:xfrm>
            <a:off x="6061869" y="3095625"/>
            <a:ext cx="0" cy="346710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7B955F3-51AE-4A52-4403-5FF42204832D}"/>
              </a:ext>
            </a:extLst>
          </p:cNvPr>
          <p:cNvCxnSpPr>
            <a:cxnSpLocks/>
          </p:cNvCxnSpPr>
          <p:nvPr/>
        </p:nvCxnSpPr>
        <p:spPr>
          <a:xfrm>
            <a:off x="8772525" y="3095625"/>
            <a:ext cx="0" cy="346710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C44C6C6-465A-585B-F4E4-B63EE03EF04B}"/>
              </a:ext>
            </a:extLst>
          </p:cNvPr>
          <p:cNvSpPr txBox="1"/>
          <p:nvPr/>
        </p:nvSpPr>
        <p:spPr>
          <a:xfrm>
            <a:off x="3320883" y="3221414"/>
            <a:ext cx="260826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bg-BG" sz="1750" noProof="0" dirty="0"/>
              <a:t>Детайлен изглед за избрана игра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bg-BG" sz="1750" noProof="0" dirty="0"/>
              <a:t>Визуална индикация при зареждане на данните (loading skeletons)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B9936D-4849-010B-74DA-FEDB9FA1AFEA}"/>
              </a:ext>
            </a:extLst>
          </p:cNvPr>
          <p:cNvSpPr txBox="1"/>
          <p:nvPr/>
        </p:nvSpPr>
        <p:spPr>
          <a:xfrm>
            <a:off x="6058525" y="3237481"/>
            <a:ext cx="2567779" cy="2669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bg-BG" sz="1750" noProof="0" dirty="0"/>
              <a:t>Infinite scroll/pagination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bg-BG" sz="1750" noProof="0" dirty="0"/>
              <a:t>Запазване на скорошните търсения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bg-BG" sz="1750" noProof="0" dirty="0"/>
              <a:t>Toggle бутон за превключване на визуалната тема (Dark/Light Mode)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685A9-2B53-BED9-8D9B-052DD71E66CF}"/>
              </a:ext>
            </a:extLst>
          </p:cNvPr>
          <p:cNvSpPr txBox="1"/>
          <p:nvPr/>
        </p:nvSpPr>
        <p:spPr>
          <a:xfrm>
            <a:off x="8755684" y="3273617"/>
            <a:ext cx="2567779" cy="2131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bg-BG" sz="1750" noProof="0" dirty="0"/>
              <a:t>Потребителски акаунти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bg-BG" sz="1750" noProof="0" dirty="0"/>
              <a:t>Списък с желания (wishlist)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bg-BG" sz="1750" noProof="0" dirty="0"/>
              <a:t>Оставяне на отзив/коментар за избрана игра</a:t>
            </a:r>
          </a:p>
        </p:txBody>
      </p:sp>
    </p:spTree>
    <p:extLst>
      <p:ext uri="{BB962C8B-B14F-4D97-AF65-F5344CB8AC3E}">
        <p14:creationId xmlns:p14="http://schemas.microsoft.com/office/powerpoint/2010/main" val="3099818670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CAAE-90D7-74A0-CC58-0FFBB5645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081AA-F605-79E3-A91E-D39C674F02B1}"/>
              </a:ext>
            </a:extLst>
          </p:cNvPr>
          <p:cNvSpPr txBox="1">
            <a:spLocks/>
          </p:cNvSpPr>
          <p:nvPr/>
        </p:nvSpPr>
        <p:spPr>
          <a:xfrm>
            <a:off x="2924175" y="415738"/>
            <a:ext cx="861060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45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архитектура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7F0D29-5407-500B-A732-F13955CE5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181" y="1477589"/>
            <a:ext cx="7137638" cy="51032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7804876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35C1E-84B7-9526-5517-8F2AF91AA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6D35ED-4101-075A-1F0D-02685964265B}"/>
              </a:ext>
            </a:extLst>
          </p:cNvPr>
          <p:cNvSpPr/>
          <p:nvPr/>
        </p:nvSpPr>
        <p:spPr>
          <a:xfrm>
            <a:off x="1319213" y="1245544"/>
            <a:ext cx="9553575" cy="5331776"/>
          </a:xfrm>
          <a:prstGeom prst="round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bg-BG" noProof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6B3D4C-6DDE-E800-E642-282CABDC9390}"/>
              </a:ext>
            </a:extLst>
          </p:cNvPr>
          <p:cNvSpPr txBox="1">
            <a:spLocks/>
          </p:cNvSpPr>
          <p:nvPr/>
        </p:nvSpPr>
        <p:spPr>
          <a:xfrm>
            <a:off x="2924175" y="221299"/>
            <a:ext cx="861060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40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Use-case диаграма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DFDBD7-BA60-1F02-F84C-F32BE778E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3776" y="1430169"/>
            <a:ext cx="7584448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4281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7BC56-0F58-4691-2018-7D9CFE593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A0B8C51-3FE3-95F6-FA2E-5A16D0CF9831}"/>
              </a:ext>
            </a:extLst>
          </p:cNvPr>
          <p:cNvSpPr/>
          <p:nvPr/>
        </p:nvSpPr>
        <p:spPr>
          <a:xfrm>
            <a:off x="1319213" y="1245544"/>
            <a:ext cx="9553575" cy="5331776"/>
          </a:xfrm>
          <a:prstGeom prst="round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bg-BG" noProof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315E99-4F46-4E31-E0C1-456443875EE3}"/>
              </a:ext>
            </a:extLst>
          </p:cNvPr>
          <p:cNvSpPr txBox="1">
            <a:spLocks/>
          </p:cNvSpPr>
          <p:nvPr/>
        </p:nvSpPr>
        <p:spPr>
          <a:xfrm>
            <a:off x="2524125" y="221299"/>
            <a:ext cx="901065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40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Use-case диаграма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D12D83-D6DC-E117-77DF-6F725D949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67559" y="2094530"/>
            <a:ext cx="6656882" cy="363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831553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1C83C-F4A9-8676-720D-7721FE6B6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B4B1BC2-18F7-9732-F65C-B48B33035852}"/>
              </a:ext>
            </a:extLst>
          </p:cNvPr>
          <p:cNvSpPr txBox="1">
            <a:spLocks/>
          </p:cNvSpPr>
          <p:nvPr/>
        </p:nvSpPr>
        <p:spPr>
          <a:xfrm>
            <a:off x="1721224" y="221299"/>
            <a:ext cx="9813551" cy="9592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30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ACtivity диаграма (РАЗГЛЕЖДАНЕ И ИЗБОР НА ИГРА)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376655-D322-CFFC-B7EC-D3692765D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4" r="28162"/>
          <a:stretch>
            <a:fillRect/>
          </a:stretch>
        </p:blipFill>
        <p:spPr>
          <a:xfrm>
            <a:off x="861909" y="1840147"/>
            <a:ext cx="4593115" cy="45451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34DF6C9-16A5-8D70-1486-FC6EC267F8DC}"/>
              </a:ext>
            </a:extLst>
          </p:cNvPr>
          <p:cNvSpPr txBox="1"/>
          <p:nvPr/>
        </p:nvSpPr>
        <p:spPr>
          <a:xfrm>
            <a:off x="949699" y="1945607"/>
            <a:ext cx="514350" cy="52319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sz="2500" b="1" noProof="0" dirty="0">
                <a:solidFill>
                  <a:schemeClr val="bg1"/>
                </a:solidFill>
              </a:rPr>
              <a:t>1.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FF044A-002D-7A16-3AFF-BAF009FDF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620" y="1840147"/>
            <a:ext cx="5655155" cy="45451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C510C89-84E3-6C8F-C8F3-357CF9B0D23E}"/>
              </a:ext>
            </a:extLst>
          </p:cNvPr>
          <p:cNvSpPr txBox="1"/>
          <p:nvPr/>
        </p:nvSpPr>
        <p:spPr>
          <a:xfrm>
            <a:off x="5976834" y="1945607"/>
            <a:ext cx="514350" cy="52319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sz="2500" b="1" noProof="0" dirty="0">
                <a:solidFill>
                  <a:schemeClr val="bg1"/>
                </a:solidFill>
              </a:rPr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293806256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7D31B-D944-E0D6-9186-9CA1277BB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5FC1DE1-D3BD-7A38-85EA-384763E1ECAD}"/>
              </a:ext>
            </a:extLst>
          </p:cNvPr>
          <p:cNvSpPr txBox="1">
            <a:spLocks/>
          </p:cNvSpPr>
          <p:nvPr/>
        </p:nvSpPr>
        <p:spPr>
          <a:xfrm>
            <a:off x="2524125" y="221299"/>
            <a:ext cx="901065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35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SEQUENCE диаграми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136652-C6DF-AA49-C90B-0BB5AB1B4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2777" y="1265592"/>
            <a:ext cx="6606447" cy="52761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8447312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5FD8C-059A-2770-97E0-73272C527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A9E8D01-3372-ED79-AC79-3595E7CE60C0}"/>
              </a:ext>
            </a:extLst>
          </p:cNvPr>
          <p:cNvSpPr txBox="1">
            <a:spLocks/>
          </p:cNvSpPr>
          <p:nvPr/>
        </p:nvSpPr>
        <p:spPr>
          <a:xfrm>
            <a:off x="2524125" y="221299"/>
            <a:ext cx="901065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35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SEQUENCE диаграми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1DE0C1-811E-EAAC-3D4B-06B65E20B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30288" y="1464864"/>
            <a:ext cx="6931425" cy="50963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3200104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3EBF-2594-83CB-D9D3-CEEA4833F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29177"/>
            <a:ext cx="8610600" cy="1293028"/>
          </a:xfrm>
        </p:spPr>
        <p:txBody>
          <a:bodyPr>
            <a:normAutofit/>
          </a:bodyPr>
          <a:lstStyle/>
          <a:p>
            <a:r>
              <a:rPr lang="bg-BG" sz="50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реализация</a:t>
            </a:r>
            <a:endParaRPr lang="bg-BG" sz="5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F2D52-592A-1C10-F9D8-E9ACE3CE9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8553" y="1416937"/>
            <a:ext cx="5334000" cy="4939039"/>
          </a:xfrm>
          <a:prstGeom prst="snip2SameRect">
            <a:avLst/>
          </a:prstGeom>
          <a:ln w="38100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bg-BG" sz="2000" b="1" noProof="0" dirty="0">
              <a:solidFill>
                <a:schemeClr val="bg2">
                  <a:lumMod val="25000"/>
                  <a:lumOff val="75000"/>
                </a:schemeClr>
              </a:solidFill>
            </a:endParaRPr>
          </a:p>
          <a:p>
            <a:pPr marL="447675" indent="-447675">
              <a:buFont typeface="Wingdings" panose="05000000000000000000" pitchFamily="2" charset="2"/>
              <a:buChar char="q"/>
            </a:pPr>
            <a:r>
              <a:rPr lang="bg-BG" sz="2100" b="1" noProof="0" dirty="0">
                <a:solidFill>
                  <a:schemeClr val="tx1"/>
                </a:solidFill>
              </a:rPr>
              <a:t>Изчертаване на диаграми: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noProof="0" dirty="0">
                <a:solidFill>
                  <a:schemeClr val="bg2">
                    <a:lumMod val="25000"/>
                    <a:lumOff val="75000"/>
                  </a:schemeClr>
                </a:solidFill>
                <a:hlinkClick r:id="rId2"/>
              </a:rPr>
              <a:t>Draw.io</a:t>
            </a:r>
            <a:endParaRPr lang="bg-BG" noProof="0" dirty="0">
              <a:solidFill>
                <a:schemeClr val="bg2">
                  <a:lumMod val="25000"/>
                  <a:lumOff val="75000"/>
                </a:schemeClr>
              </a:solidFill>
            </a:endParaRP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noProof="0" dirty="0">
                <a:solidFill>
                  <a:schemeClr val="bg2">
                    <a:lumMod val="25000"/>
                    <a:lumOff val="75000"/>
                  </a:schemeClr>
                </a:solidFill>
                <a:hlinkClick r:id="rId3"/>
              </a:rPr>
              <a:t>WebSequenceDiagrams.com</a:t>
            </a:r>
            <a:endParaRPr lang="bg-BG" noProof="0" dirty="0">
              <a:solidFill>
                <a:schemeClr val="bg2">
                  <a:lumMod val="25000"/>
                  <a:lumOff val="75000"/>
                </a:schemeClr>
              </a:solidFill>
            </a:endParaRPr>
          </a:p>
          <a:p>
            <a:pPr marL="0" lvl="1" indent="447675">
              <a:buFont typeface="Wingdings" panose="05000000000000000000" pitchFamily="2" charset="2"/>
              <a:buChar char="q"/>
            </a:pPr>
            <a:r>
              <a:rPr lang="bg-BG" sz="2100" b="1" noProof="0" dirty="0">
                <a:solidFill>
                  <a:schemeClr val="tx1"/>
                </a:solidFill>
              </a:rPr>
              <a:t>Среда за разработка: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VS Code</a:t>
            </a:r>
          </a:p>
          <a:p>
            <a:pPr marL="0" lvl="1" indent="447675">
              <a:buFont typeface="Wingdings" panose="05000000000000000000" pitchFamily="2" charset="2"/>
              <a:buChar char="q"/>
            </a:pPr>
            <a:r>
              <a:rPr lang="bg-BG" sz="2100" b="1" noProof="0" dirty="0">
                <a:solidFill>
                  <a:schemeClr val="tx1"/>
                </a:solidFill>
              </a:rPr>
              <a:t>Използвани технологии: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програмни езици – TypeScript, HTML, CSS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библиотеки – React, Chakra UI, Axios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среда за изпълнение – Node.js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package manager – npm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build tool – Vite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база от данни – RAWG API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EB713-9B9D-327F-F549-79CEB5902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4953" y="1416937"/>
            <a:ext cx="5334000" cy="4939039"/>
          </a:xfrm>
          <a:prstGeom prst="snip2SameRect">
            <a:avLst/>
          </a:prstGeom>
          <a:ln w="38100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 fontScale="92500" lnSpcReduction="20000"/>
          </a:bodyPr>
          <a:lstStyle/>
          <a:p>
            <a:pPr marL="447675" indent="-447675">
              <a:buFont typeface="Wingdings" panose="05000000000000000000" pitchFamily="2" charset="2"/>
              <a:buChar char="q"/>
            </a:pPr>
            <a:endParaRPr lang="bg-BG" sz="2000" b="1" noProof="0" dirty="0">
              <a:solidFill>
                <a:schemeClr val="bg2">
                  <a:lumMod val="25000"/>
                  <a:lumOff val="75000"/>
                </a:schemeClr>
              </a:solidFill>
            </a:endParaRPr>
          </a:p>
          <a:p>
            <a:pPr marL="447675" indent="-447675">
              <a:buFont typeface="Wingdings" panose="05000000000000000000" pitchFamily="2" charset="2"/>
              <a:buChar char="q"/>
            </a:pPr>
            <a:r>
              <a:rPr lang="bg-BG" sz="2100" b="1" noProof="0" dirty="0">
                <a:solidFill>
                  <a:schemeClr val="tx1"/>
                </a:solidFill>
              </a:rPr>
              <a:t>Version control: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Git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GitHub</a:t>
            </a:r>
          </a:p>
          <a:p>
            <a:pPr marL="447675" indent="-447675">
              <a:buFont typeface="Wingdings" panose="05000000000000000000" pitchFamily="2" charset="2"/>
              <a:buChar char="q"/>
            </a:pPr>
            <a:r>
              <a:rPr lang="bg-BG" sz="2100" b="1" noProof="0" dirty="0">
                <a:solidFill>
                  <a:schemeClr val="tx1"/>
                </a:solidFill>
              </a:rPr>
              <a:t>Внедряване (Deployment):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Vercel</a:t>
            </a:r>
          </a:p>
          <a:p>
            <a:pPr marL="447675" indent="-447675">
              <a:buFont typeface="Wingdings" panose="05000000000000000000" pitchFamily="2" charset="2"/>
              <a:buChar char="q"/>
            </a:pPr>
            <a:r>
              <a:rPr lang="bg-BG" sz="2100" b="1" noProof="0" dirty="0">
                <a:solidFill>
                  <a:schemeClr val="tx1"/>
                </a:solidFill>
              </a:rPr>
              <a:t>Изготвяне на записка и презентация за защитата: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Word</a:t>
            </a:r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bg-BG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PowerPoint</a:t>
            </a:r>
          </a:p>
        </p:txBody>
      </p:sp>
    </p:spTree>
    <p:extLst>
      <p:ext uri="{BB962C8B-B14F-4D97-AF65-F5344CB8AC3E}">
        <p14:creationId xmlns:p14="http://schemas.microsoft.com/office/powerpoint/2010/main" val="496238365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514CA-E567-AF6F-DCDF-AACA54280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D069A-9878-3B69-6154-6002D4B12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29177"/>
            <a:ext cx="8610600" cy="1293028"/>
          </a:xfrm>
        </p:spPr>
        <p:txBody>
          <a:bodyPr>
            <a:normAutofit/>
          </a:bodyPr>
          <a:lstStyle/>
          <a:p>
            <a:r>
              <a:rPr lang="bg-BG" sz="50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Тестване</a:t>
            </a:r>
            <a:endParaRPr lang="bg-BG" sz="5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84C10-F73A-A6A8-D4B1-20C85D799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7176" y="1450487"/>
            <a:ext cx="10757647" cy="4939039"/>
          </a:xfrm>
          <a:prstGeom prst="snip2SameRect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bg-BG" sz="3500" b="1" noProof="0" dirty="0">
                <a:solidFill>
                  <a:schemeClr val="tx1"/>
                </a:solidFill>
              </a:rPr>
              <a:t>Извършено е ръчно тестване на </a:t>
            </a:r>
            <a:r>
              <a:rPr lang="bg-BG" sz="3500" b="1" dirty="0">
                <a:solidFill>
                  <a:schemeClr val="tx1"/>
                </a:solidFill>
              </a:rPr>
              <a:t>к</a:t>
            </a:r>
            <a:r>
              <a:rPr lang="bg-BG" sz="3500" b="1" noProof="0" dirty="0">
                <a:solidFill>
                  <a:schemeClr val="tx1"/>
                </a:solidFill>
              </a:rPr>
              <a:t>лючовите функционалности (</a:t>
            </a:r>
            <a:r>
              <a:rPr lang="bg-BG" sz="3500" b="1" dirty="0">
                <a:solidFill>
                  <a:schemeClr val="tx1"/>
                </a:solidFill>
              </a:rPr>
              <a:t>търсене</a:t>
            </a:r>
            <a:r>
              <a:rPr lang="bg-BG" sz="3500" b="1" noProof="0" dirty="0">
                <a:solidFill>
                  <a:schemeClr val="tx1"/>
                </a:solidFill>
              </a:rPr>
              <a:t>, филтриране и сортиране на игри).</a:t>
            </a:r>
          </a:p>
        </p:txBody>
      </p:sp>
    </p:spTree>
    <p:extLst>
      <p:ext uri="{BB962C8B-B14F-4D97-AF65-F5344CB8AC3E}">
        <p14:creationId xmlns:p14="http://schemas.microsoft.com/office/powerpoint/2010/main" val="3074097434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56807-2337-B91D-EF36-538420325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0F482-13E0-4ED8-3EA2-905075CA1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4" y="229177"/>
            <a:ext cx="4352365" cy="1293028"/>
          </a:xfrm>
        </p:spPr>
        <p:txBody>
          <a:bodyPr>
            <a:normAutofit/>
          </a:bodyPr>
          <a:lstStyle/>
          <a:p>
            <a:r>
              <a:rPr lang="bg-BG" sz="50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Заключение</a:t>
            </a:r>
            <a:endParaRPr lang="bg-BG" sz="5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B7986-C7C8-6BB1-1ACE-3EDD69D987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7176" y="1450487"/>
            <a:ext cx="10757647" cy="4939039"/>
          </a:xfrm>
          <a:prstGeom prst="snip2SameRect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bg-BG" sz="3500" b="1" noProof="0" dirty="0">
                <a:solidFill>
                  <a:schemeClr val="tx1"/>
                </a:solidFill>
              </a:rPr>
              <a:t>Основната цел на проекта е да се разработи уеб приложение, подходящо за ентусиасти на видеоигри, което ще</a:t>
            </a:r>
            <a:r>
              <a:rPr lang="bg-BG" sz="3500" b="1" dirty="0">
                <a:solidFill>
                  <a:schemeClr val="tx1"/>
                </a:solidFill>
              </a:rPr>
              <a:t> им позволи да търсят, филтрират и сортират обширна библиотека от игри.</a:t>
            </a:r>
            <a:endParaRPr lang="bg-BG" sz="3500" b="1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272418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7C29B-4D05-EBAB-E89F-6049A40DE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2E3F4B5-A5FC-888A-AD21-063474292E48}"/>
              </a:ext>
            </a:extLst>
          </p:cNvPr>
          <p:cNvSpPr txBox="1">
            <a:spLocks/>
          </p:cNvSpPr>
          <p:nvPr/>
        </p:nvSpPr>
        <p:spPr>
          <a:xfrm>
            <a:off x="2524125" y="221299"/>
            <a:ext cx="901065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5000" b="1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демонстрация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640E95-F9EE-2F9C-4378-8F93119ACF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488" y="1199573"/>
            <a:ext cx="9549024" cy="53717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8714570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C3D34-15FC-4B0F-ACF5-F207CC3A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65A6190-E5A0-960F-44D9-66A88B492007}"/>
              </a:ext>
            </a:extLst>
          </p:cNvPr>
          <p:cNvSpPr txBox="1">
            <a:spLocks/>
          </p:cNvSpPr>
          <p:nvPr/>
        </p:nvSpPr>
        <p:spPr>
          <a:xfrm>
            <a:off x="2524125" y="221299"/>
            <a:ext cx="901065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5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демонстрация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6D7278-9A6A-6407-7D60-9C6B400F3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765" y="1264993"/>
            <a:ext cx="9554470" cy="53717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E01B39-EF8E-2482-2856-32B7170CF2A1}"/>
              </a:ext>
            </a:extLst>
          </p:cNvPr>
          <p:cNvCxnSpPr>
            <a:cxnSpLocks/>
          </p:cNvCxnSpPr>
          <p:nvPr/>
        </p:nvCxnSpPr>
        <p:spPr>
          <a:xfrm flipH="1" flipV="1">
            <a:off x="2733675" y="1438275"/>
            <a:ext cx="489585" cy="77788"/>
          </a:xfrm>
          <a:prstGeom prst="line">
            <a:avLst/>
          </a:prstGeom>
          <a:ln w="38100" cap="flat" cmpd="sng" algn="ctr">
            <a:solidFill>
              <a:srgbClr val="EE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909956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354B7-1B3F-F8BC-83CC-D9DA6A477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1F31451-BE1C-5B06-9307-8000FCF16FAE}"/>
              </a:ext>
            </a:extLst>
          </p:cNvPr>
          <p:cNvSpPr txBox="1">
            <a:spLocks/>
          </p:cNvSpPr>
          <p:nvPr/>
        </p:nvSpPr>
        <p:spPr>
          <a:xfrm>
            <a:off x="2524125" y="221299"/>
            <a:ext cx="901065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5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демонстрация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0361A2-8F00-9604-2545-957ED1025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989" y="1265244"/>
            <a:ext cx="9554023" cy="53714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E783BF4-B806-3C48-B227-E9B9D4F79D9B}"/>
              </a:ext>
            </a:extLst>
          </p:cNvPr>
          <p:cNvCxnSpPr>
            <a:cxnSpLocks/>
          </p:cNvCxnSpPr>
          <p:nvPr/>
        </p:nvCxnSpPr>
        <p:spPr>
          <a:xfrm flipH="1" flipV="1">
            <a:off x="4650115" y="1897725"/>
            <a:ext cx="486834" cy="127497"/>
          </a:xfrm>
          <a:prstGeom prst="line">
            <a:avLst/>
          </a:prstGeom>
          <a:ln w="38100" cap="flat" cmpd="sng" algn="ctr">
            <a:solidFill>
              <a:srgbClr val="EE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AC26D-A2D4-0B1D-7CE6-194EFF074D9A}"/>
              </a:ext>
            </a:extLst>
          </p:cNvPr>
          <p:cNvSpPr/>
          <p:nvPr/>
        </p:nvSpPr>
        <p:spPr>
          <a:xfrm>
            <a:off x="1379356" y="1968041"/>
            <a:ext cx="592109" cy="2050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bg-B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2C17D9-D735-01CF-14A7-B8B2A6EC6DB9}"/>
              </a:ext>
            </a:extLst>
          </p:cNvPr>
          <p:cNvSpPr/>
          <p:nvPr/>
        </p:nvSpPr>
        <p:spPr>
          <a:xfrm>
            <a:off x="2328901" y="2025222"/>
            <a:ext cx="509846" cy="24839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bg-B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C7CEB2-63E5-894B-4080-9E24989A6203}"/>
              </a:ext>
            </a:extLst>
          </p:cNvPr>
          <p:cNvSpPr/>
          <p:nvPr/>
        </p:nvSpPr>
        <p:spPr>
          <a:xfrm>
            <a:off x="2888624" y="2025222"/>
            <a:ext cx="1147156" cy="24839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41001212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E2408-2525-53C0-89E9-7E0FD4B64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89F9239-357D-52B2-FFAB-D7496739BB50}"/>
              </a:ext>
            </a:extLst>
          </p:cNvPr>
          <p:cNvSpPr txBox="1">
            <a:spLocks/>
          </p:cNvSpPr>
          <p:nvPr/>
        </p:nvSpPr>
        <p:spPr>
          <a:xfrm>
            <a:off x="2524125" y="221299"/>
            <a:ext cx="901065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5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демонстрация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6199F9-1804-381A-F027-182D816DC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3" y="1264993"/>
            <a:ext cx="9553575" cy="53717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F181E95-61FC-84E9-766D-14949F191C3C}"/>
              </a:ext>
            </a:extLst>
          </p:cNvPr>
          <p:cNvCxnSpPr>
            <a:cxnSpLocks/>
          </p:cNvCxnSpPr>
          <p:nvPr/>
        </p:nvCxnSpPr>
        <p:spPr>
          <a:xfrm flipH="1">
            <a:off x="5421640" y="1924050"/>
            <a:ext cx="160010" cy="411825"/>
          </a:xfrm>
          <a:prstGeom prst="line">
            <a:avLst/>
          </a:prstGeom>
          <a:ln w="38100" cap="flat" cmpd="sng" algn="ctr">
            <a:solidFill>
              <a:srgbClr val="EE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 Box 38">
            <a:extLst>
              <a:ext uri="{FF2B5EF4-FFF2-40B4-BE49-F238E27FC236}">
                <a16:creationId xmlns:a16="http://schemas.microsoft.com/office/drawing/2014/main" id="{8715B117-57D2-9F71-393B-B8D6A4C6371D}"/>
              </a:ext>
            </a:extLst>
          </p:cNvPr>
          <p:cNvSpPr txBox="1"/>
          <p:nvPr/>
        </p:nvSpPr>
        <p:spPr>
          <a:xfrm>
            <a:off x="4705826" y="1494301"/>
            <a:ext cx="1751648" cy="4964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B0F0"/>
                </a:solidFill>
                <a:latin typeface="Aptos Display" panose="020B0004020202020204" pitchFamily="34" charset="0"/>
                <a:ea typeface="Calibri" panose="020F0502020204030204" pitchFamily="34" charset="0"/>
              </a:rPr>
              <a:t>Loading skeletons</a:t>
            </a:r>
            <a:endParaRPr lang="bg-BG" sz="16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200649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C55E0-C4F4-F3F6-1752-E48250E3E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C25C937-BBA1-CE6D-3CE3-3B648DC71987}"/>
              </a:ext>
            </a:extLst>
          </p:cNvPr>
          <p:cNvSpPr txBox="1">
            <a:spLocks/>
          </p:cNvSpPr>
          <p:nvPr/>
        </p:nvSpPr>
        <p:spPr>
          <a:xfrm>
            <a:off x="2524125" y="221299"/>
            <a:ext cx="9010650" cy="9592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bg-BG" sz="5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демонстрация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76220B-987A-69FD-333C-31B3B9049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988" y="1265244"/>
            <a:ext cx="9554023" cy="53714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64F3952-33EC-5D42-6EDE-7DEA870AE670}"/>
              </a:ext>
            </a:extLst>
          </p:cNvPr>
          <p:cNvCxnSpPr>
            <a:cxnSpLocks/>
          </p:cNvCxnSpPr>
          <p:nvPr/>
        </p:nvCxnSpPr>
        <p:spPr>
          <a:xfrm flipV="1">
            <a:off x="9918065" y="1581150"/>
            <a:ext cx="283210" cy="236478"/>
          </a:xfrm>
          <a:prstGeom prst="line">
            <a:avLst/>
          </a:prstGeom>
          <a:ln w="38100" cap="flat" cmpd="sng" algn="ctr">
            <a:solidFill>
              <a:srgbClr val="EE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201041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770CA6A-B3B0-4826-A91F-B2B1F8922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99E8B0-31C8-4082-93D3-6A2F408A84CA}"/>
              </a:ext>
            </a:extLst>
          </p:cNvPr>
          <p:cNvSpPr txBox="1">
            <a:spLocks/>
          </p:cNvSpPr>
          <p:nvPr/>
        </p:nvSpPr>
        <p:spPr>
          <a:xfrm>
            <a:off x="4976028" y="965200"/>
            <a:ext cx="6170943" cy="4329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bg-BG" sz="54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Благодаря за вниманието!</a:t>
            </a:r>
            <a:endParaRPr lang="bg-BG" sz="5400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FE641DB-A503-41DE-ACA6-36B41C6C2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62126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25128BB7-D1A3-4F7F-98A3-10B5DCE17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8339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theme/theme1.xml><?xml version="1.0" encoding="utf-8"?>
<a:theme xmlns:a="http://schemas.openxmlformats.org/drawingml/2006/main" name="Vapor Trai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1488</TotalTime>
  <Words>533</Words>
  <Application>Microsoft Office PowerPoint</Application>
  <PresentationFormat>Widescreen</PresentationFormat>
  <Paragraphs>101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Aptos Display</vt:lpstr>
      <vt:lpstr>Arial</vt:lpstr>
      <vt:lpstr>Arimo</vt:lpstr>
      <vt:lpstr>Josefin Sans</vt:lpstr>
      <vt:lpstr>Times New Roman</vt:lpstr>
      <vt:lpstr>Wingdings</vt:lpstr>
      <vt:lpstr>Vapor Trail</vt:lpstr>
      <vt:lpstr>Уеб приложение за откриване и разглеждане на видеоигри</vt:lpstr>
      <vt:lpstr>PowerPoint Presentation</vt:lpstr>
      <vt:lpstr>PowerPoint Presentation</vt:lpstr>
      <vt:lpstr>Етапи на разработка</vt:lpstr>
      <vt:lpstr>Функционални изисквания</vt:lpstr>
      <vt:lpstr>неФункционални изисквания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реализация</vt:lpstr>
      <vt:lpstr>Тестване</vt:lpstr>
      <vt:lpstr>Заключение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PizzaHub</dc:title>
  <dc:creator>Dian Lazarov;Bilyana Paunova;Selin Softa</dc:creator>
  <cp:lastModifiedBy>Dian Lazarov</cp:lastModifiedBy>
  <cp:revision>536</cp:revision>
  <dcterms:created xsi:type="dcterms:W3CDTF">2014-12-10T13:31:36Z</dcterms:created>
  <dcterms:modified xsi:type="dcterms:W3CDTF">2026-06-21T12:49:32Z</dcterms:modified>
</cp:coreProperties>
</file>